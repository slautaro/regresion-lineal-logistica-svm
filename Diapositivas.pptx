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7" r:id="rId4"/>
    <p:sldId id="280" r:id="rId5"/>
    <p:sldId id="281" r:id="rId6"/>
    <p:sldId id="260" r:id="rId7"/>
    <p:sldId id="268" r:id="rId8"/>
    <p:sldId id="261" r:id="rId9"/>
    <p:sldId id="269" r:id="rId10"/>
    <p:sldId id="270" r:id="rId11"/>
    <p:sldId id="271" r:id="rId12"/>
    <p:sldId id="263" r:id="rId13"/>
    <p:sldId id="264" r:id="rId14"/>
    <p:sldId id="273" r:id="rId15"/>
    <p:sldId id="276" r:id="rId16"/>
    <p:sldId id="272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utaro Suárez" initials="LS" lastIdx="1" clrIdx="0">
    <p:extLst>
      <p:ext uri="{19B8F6BF-5375-455C-9EA6-DF929625EA0E}">
        <p15:presenceInfo xmlns:p15="http://schemas.microsoft.com/office/powerpoint/2012/main" userId="4873051439b2113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1C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066B12-B52B-4F83-B162-AE0394C3C720}" v="106" dt="2026-07-08T06:52:53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07T22:15:43.254" idx="1">
    <p:pos x="4608" y="864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A6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888C69"/>
                </a:solidFill>
                <a:latin typeface="Arial"/>
              </a:defRPr>
            </a:pPr>
            <a:r>
              <a:rPr dirty="0"/>
              <a:t>TRABAJO PRÁCTICO 3 </a:t>
            </a:r>
            <a:r>
              <a:rPr lang="en-US" dirty="0"/>
              <a:t>-</a:t>
            </a:r>
            <a:r>
              <a:rPr dirty="0"/>
              <a:t> APRENDIZAJE AUTOMÁTICO</a:t>
            </a:r>
            <a:endParaRPr lang="es-AR" dirty="0"/>
          </a:p>
          <a:p>
            <a:pPr>
              <a:spcAft>
                <a:spcPts val="1200"/>
              </a:spcAft>
              <a:defRPr sz="1200" b="1">
                <a:solidFill>
                  <a:srgbClr val="888C69"/>
                </a:solidFill>
                <a:latin typeface="Arial"/>
              </a:defRPr>
            </a:pPr>
            <a:endParaRPr lang="es-MX" dirty="0"/>
          </a:p>
          <a:p>
            <a:pPr>
              <a:spcAft>
                <a:spcPts val="1200"/>
              </a:spcAft>
              <a:defRPr sz="1200" b="1">
                <a:solidFill>
                  <a:srgbClr val="888C69"/>
                </a:solidFill>
                <a:latin typeface="Arial"/>
              </a:defRPr>
            </a:pPr>
            <a:endParaRPr dirty="0"/>
          </a:p>
          <a:p>
            <a:pPr>
              <a:spcAft>
                <a:spcPts val="1400"/>
              </a:spcAft>
              <a:defRPr sz="3800" b="1">
                <a:solidFill>
                  <a:srgbClr val="A61C28"/>
                </a:solidFill>
                <a:latin typeface="Georgia"/>
              </a:defRPr>
            </a:pPr>
            <a:r>
              <a:rPr lang="en-US" dirty="0"/>
              <a:t>An</a:t>
            </a:r>
            <a:r>
              <a:rPr lang="es-AR" dirty="0" err="1"/>
              <a:t>álisis</a:t>
            </a:r>
            <a:r>
              <a:rPr lang="es-AR" dirty="0"/>
              <a:t> comparativo de Regresión Múltiple, Regresión Logística y SVM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94F4F"/>
                </a:solidFill>
                <a:latin typeface="Arial"/>
              </a:defRPr>
            </a:pPr>
            <a:r>
              <a:rPr lang="es-AR" dirty="0"/>
              <a:t>Martin Canepa – Lautaro Suarez – </a:t>
            </a:r>
            <a:r>
              <a:rPr lang="es-AR" dirty="0" err="1"/>
              <a:t>Julian</a:t>
            </a:r>
            <a:r>
              <a:rPr lang="es-AR" dirty="0"/>
              <a:t> Ojeda</a:t>
            </a:r>
          </a:p>
          <a:p>
            <a:pPr>
              <a:defRPr sz="1100" b="1">
                <a:solidFill>
                  <a:srgbClr val="594F4F"/>
                </a:solidFill>
                <a:latin typeface="Arial"/>
              </a:defRPr>
            </a:pPr>
            <a:r>
              <a:rPr dirty="0"/>
              <a:t>Dra. Andrea Alejandra Rey  |  Universidad Nacional de </a:t>
            </a:r>
            <a:r>
              <a:rPr dirty="0" err="1"/>
              <a:t>Hurlingham</a:t>
            </a:r>
            <a:r>
              <a:rPr dirty="0"/>
              <a:t> (UNAHUR)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04320" y="6400800"/>
            <a:ext cx="487375" cy="457200"/>
          </a:xfrm>
          <a:prstGeom prst="rect">
            <a:avLst/>
          </a:prstGeom>
          <a:solidFill>
            <a:srgbClr val="BEB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430000" y="6583680"/>
            <a:ext cx="761695" cy="274320"/>
          </a:xfrm>
          <a:prstGeom prst="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552652"/>
            <a:ext cx="8686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A61C28"/>
                </a:solidFill>
                <a:latin typeface="Georgia"/>
              </a:defRPr>
            </a:pPr>
            <a:r>
              <a:rPr lang="es-MX" dirty="0"/>
              <a:t>Tabla de Contenidos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9418320" y="320040"/>
            <a:ext cx="2286000" cy="365760"/>
          </a:xfrm>
          <a:prstGeom prst="round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/>
              <a:t>ÍNDICE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F99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r>
              <a:rPr sz="1800" b="1" dirty="0">
                <a:solidFill>
                  <a:srgbClr val="A61C28"/>
                </a:solidFill>
                <a:latin typeface="Georgia"/>
              </a:rPr>
              <a:t>01.  </a:t>
            </a:r>
            <a:r>
              <a:rPr sz="1450" b="1" dirty="0" err="1">
                <a:solidFill>
                  <a:srgbClr val="594F4F"/>
                </a:solidFill>
                <a:latin typeface="Georgia"/>
              </a:rPr>
              <a:t>Preparación</a:t>
            </a:r>
            <a:r>
              <a:rPr sz="1450" b="1" dirty="0">
                <a:solidFill>
                  <a:srgbClr val="594F4F"/>
                </a:solidFill>
                <a:latin typeface="Georgia"/>
              </a:rPr>
              <a:t> de Datos y </a:t>
            </a:r>
            <a:r>
              <a:rPr sz="1450" b="1" dirty="0" err="1">
                <a:solidFill>
                  <a:srgbClr val="594F4F"/>
                </a:solidFill>
                <a:latin typeface="Georgia"/>
              </a:rPr>
              <a:t>Análisis</a:t>
            </a:r>
            <a:r>
              <a:rPr sz="1450" b="1" dirty="0">
                <a:solidFill>
                  <a:srgbClr val="594F4F"/>
                </a:solidFill>
                <a:latin typeface="Georgia"/>
              </a:rPr>
              <a:t> </a:t>
            </a:r>
          </a:p>
          <a:p>
            <a:pPr>
              <a:spcBef>
                <a:spcPts val="600"/>
              </a:spcBef>
              <a:defRPr sz="1100">
                <a:solidFill>
                  <a:srgbClr val="594F4F"/>
                </a:solidFill>
                <a:latin typeface="Arial"/>
              </a:defRPr>
            </a:pPr>
            <a:r>
              <a:rPr lang="es-AR" dirty="0"/>
              <a:t>Limpieza</a:t>
            </a:r>
            <a:r>
              <a:rPr dirty="0"/>
              <a:t> del dataset, </a:t>
            </a:r>
            <a:r>
              <a:rPr lang="es-AR" dirty="0"/>
              <a:t>eliminación </a:t>
            </a:r>
            <a:r>
              <a:rPr dirty="0"/>
              <a:t>de </a:t>
            </a:r>
            <a:r>
              <a:rPr dirty="0" err="1"/>
              <a:t>duplicados</a:t>
            </a:r>
            <a:r>
              <a:rPr dirty="0"/>
              <a:t> </a:t>
            </a:r>
            <a:r>
              <a:rPr lang="es-AR" dirty="0"/>
              <a:t>y reemplazo de la variable “</a:t>
            </a:r>
            <a:r>
              <a:rPr lang="es-AR" dirty="0" err="1"/>
              <a:t>Calificacion</a:t>
            </a:r>
            <a:r>
              <a:rPr lang="es-AR" dirty="0"/>
              <a:t>” a  una clasificación binaria.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F99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r>
              <a:rPr sz="1800" b="1" dirty="0">
                <a:solidFill>
                  <a:srgbClr val="A61C28"/>
                </a:solidFill>
                <a:latin typeface="Georgia"/>
              </a:rPr>
              <a:t>02.  </a:t>
            </a:r>
            <a:r>
              <a:rPr sz="1450" b="1" dirty="0" err="1">
                <a:solidFill>
                  <a:srgbClr val="594F4F"/>
                </a:solidFill>
                <a:latin typeface="Georgia"/>
              </a:rPr>
              <a:t>Ejercicio</a:t>
            </a:r>
            <a:r>
              <a:rPr sz="1450" b="1" dirty="0">
                <a:solidFill>
                  <a:srgbClr val="594F4F"/>
                </a:solidFill>
                <a:latin typeface="Georgia"/>
              </a:rPr>
              <a:t> 1: </a:t>
            </a:r>
            <a:r>
              <a:rPr sz="1450" b="1" dirty="0" err="1">
                <a:solidFill>
                  <a:srgbClr val="594F4F"/>
                </a:solidFill>
                <a:latin typeface="Georgia"/>
              </a:rPr>
              <a:t>Regresiones</a:t>
            </a:r>
            <a:r>
              <a:rPr sz="1450" b="1" dirty="0">
                <a:solidFill>
                  <a:srgbClr val="594F4F"/>
                </a:solidFill>
                <a:latin typeface="Georgia"/>
              </a:rPr>
              <a:t> Lineal y </a:t>
            </a:r>
            <a:r>
              <a:rPr sz="1450" b="1" dirty="0" err="1">
                <a:solidFill>
                  <a:srgbClr val="594F4F"/>
                </a:solidFill>
                <a:latin typeface="Georgia"/>
              </a:rPr>
              <a:t>Logística</a:t>
            </a:r>
            <a:endParaRPr sz="1450" b="1" dirty="0">
              <a:solidFill>
                <a:srgbClr val="594F4F"/>
              </a:solidFill>
              <a:latin typeface="Georgia"/>
            </a:endParaRPr>
          </a:p>
          <a:p>
            <a:pPr>
              <a:spcBef>
                <a:spcPts val="600"/>
              </a:spcBef>
              <a:defRPr sz="1100">
                <a:solidFill>
                  <a:srgbClr val="594F4F"/>
                </a:solidFill>
                <a:latin typeface="Arial"/>
              </a:defRPr>
            </a:pPr>
            <a:r>
              <a:rPr dirty="0" err="1"/>
              <a:t>Modelado</a:t>
            </a:r>
            <a:r>
              <a:rPr dirty="0"/>
              <a:t> </a:t>
            </a:r>
            <a:r>
              <a:rPr dirty="0" err="1"/>
              <a:t>predictivo</a:t>
            </a:r>
            <a:r>
              <a:rPr dirty="0"/>
              <a:t> de </a:t>
            </a:r>
            <a:r>
              <a:rPr dirty="0" err="1"/>
              <a:t>calificaciones</a:t>
            </a:r>
            <a:r>
              <a:rPr dirty="0"/>
              <a:t> finales y </a:t>
            </a:r>
            <a:r>
              <a:rPr dirty="0" err="1"/>
              <a:t>estimación</a:t>
            </a:r>
            <a:r>
              <a:rPr dirty="0"/>
              <a:t> </a:t>
            </a:r>
            <a:r>
              <a:rPr dirty="0" err="1"/>
              <a:t>probabilística</a:t>
            </a:r>
            <a:r>
              <a:rPr dirty="0"/>
              <a:t> </a:t>
            </a:r>
            <a:r>
              <a:rPr dirty="0" err="1"/>
              <a:t>discreta</a:t>
            </a:r>
            <a:r>
              <a:rPr dirty="0"/>
              <a:t> del </a:t>
            </a:r>
            <a:r>
              <a:rPr dirty="0" err="1"/>
              <a:t>estado</a:t>
            </a:r>
            <a:r>
              <a:rPr dirty="0"/>
              <a:t> de </a:t>
            </a:r>
            <a:r>
              <a:rPr dirty="0" err="1"/>
              <a:t>aprobación</a:t>
            </a:r>
            <a:r>
              <a:rPr dirty="0"/>
              <a:t> </a:t>
            </a:r>
            <a:r>
              <a:rPr lang="es-AR" dirty="0"/>
              <a:t>del </a:t>
            </a:r>
            <a:r>
              <a:rPr dirty="0" err="1"/>
              <a:t>estudiant</a:t>
            </a:r>
            <a:r>
              <a:rPr lang="es-AR" dirty="0"/>
              <a:t>e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F99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r>
              <a:rPr sz="1800" b="1" dirty="0">
                <a:solidFill>
                  <a:srgbClr val="A61C28"/>
                </a:solidFill>
                <a:latin typeface="Georgia"/>
              </a:rPr>
              <a:t>03.  </a:t>
            </a:r>
            <a:r>
              <a:rPr sz="1450" b="1" dirty="0" err="1">
                <a:solidFill>
                  <a:srgbClr val="594F4F"/>
                </a:solidFill>
                <a:latin typeface="Georgia"/>
              </a:rPr>
              <a:t>Ejercicio</a:t>
            </a:r>
            <a:r>
              <a:rPr sz="1450" b="1" dirty="0">
                <a:solidFill>
                  <a:srgbClr val="594F4F"/>
                </a:solidFill>
                <a:latin typeface="Georgia"/>
              </a:rPr>
              <a:t> 2: </a:t>
            </a:r>
            <a:r>
              <a:rPr sz="1450" b="1" dirty="0" err="1">
                <a:solidFill>
                  <a:srgbClr val="594F4F"/>
                </a:solidFill>
                <a:latin typeface="Georgia"/>
              </a:rPr>
              <a:t>Clasificación</a:t>
            </a:r>
            <a:r>
              <a:rPr sz="1450" b="1" dirty="0">
                <a:solidFill>
                  <a:srgbClr val="594F4F"/>
                </a:solidFill>
                <a:latin typeface="Georgia"/>
              </a:rPr>
              <a:t> </a:t>
            </a:r>
            <a:r>
              <a:rPr sz="1450" b="1" dirty="0" err="1">
                <a:solidFill>
                  <a:srgbClr val="594F4F"/>
                </a:solidFill>
                <a:latin typeface="Georgia"/>
              </a:rPr>
              <a:t>Avanzada</a:t>
            </a:r>
            <a:r>
              <a:rPr sz="1450" b="1" dirty="0">
                <a:solidFill>
                  <a:srgbClr val="594F4F"/>
                </a:solidFill>
                <a:latin typeface="Georgia"/>
              </a:rPr>
              <a:t> </a:t>
            </a:r>
            <a:r>
              <a:rPr sz="1450" b="1" dirty="0" err="1">
                <a:solidFill>
                  <a:srgbClr val="594F4F"/>
                </a:solidFill>
                <a:latin typeface="Georgia"/>
              </a:rPr>
              <a:t>mediante</a:t>
            </a:r>
            <a:r>
              <a:rPr sz="1450" b="1" dirty="0">
                <a:solidFill>
                  <a:srgbClr val="594F4F"/>
                </a:solidFill>
                <a:latin typeface="Georgia"/>
              </a:rPr>
              <a:t> SVM</a:t>
            </a:r>
          </a:p>
          <a:p>
            <a:pPr>
              <a:spcBef>
                <a:spcPts val="600"/>
              </a:spcBef>
              <a:defRPr sz="1100">
                <a:solidFill>
                  <a:srgbClr val="594F4F"/>
                </a:solidFill>
                <a:latin typeface="Arial"/>
              </a:defRPr>
            </a:pPr>
            <a:r>
              <a:rPr dirty="0" err="1"/>
              <a:t>Implementación</a:t>
            </a:r>
            <a:r>
              <a:rPr dirty="0"/>
              <a:t> de Support Vector Machines </a:t>
            </a:r>
            <a:r>
              <a:rPr dirty="0" err="1"/>
              <a:t>analizando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kernels (Linear, RBF, Poly) y </a:t>
            </a:r>
            <a:r>
              <a:rPr dirty="0" err="1"/>
              <a:t>búsqueda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grilla</a:t>
            </a:r>
            <a:r>
              <a:rPr lang="es-AR" dirty="0"/>
              <a:t>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BF99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/>
            <a:r>
              <a:rPr sz="1800" b="1" dirty="0">
                <a:solidFill>
                  <a:srgbClr val="A61C28"/>
                </a:solidFill>
                <a:latin typeface="Georgia"/>
              </a:rPr>
              <a:t>04.  </a:t>
            </a:r>
            <a:r>
              <a:rPr sz="1450" b="1" dirty="0" err="1">
                <a:solidFill>
                  <a:srgbClr val="594F4F"/>
                </a:solidFill>
                <a:latin typeface="Georgia"/>
              </a:rPr>
              <a:t>Ejercicio</a:t>
            </a:r>
            <a:r>
              <a:rPr sz="1450" b="1" dirty="0">
                <a:solidFill>
                  <a:srgbClr val="594F4F"/>
                </a:solidFill>
                <a:latin typeface="Georgia"/>
              </a:rPr>
              <a:t> 3: C</a:t>
            </a:r>
            <a:r>
              <a:rPr lang="es-AR" sz="1450" b="1" dirty="0" err="1">
                <a:solidFill>
                  <a:srgbClr val="594F4F"/>
                </a:solidFill>
                <a:latin typeface="Georgia"/>
              </a:rPr>
              <a:t>omparativa</a:t>
            </a:r>
            <a:r>
              <a:rPr sz="1450" b="1" dirty="0">
                <a:solidFill>
                  <a:srgbClr val="594F4F"/>
                </a:solidFill>
                <a:latin typeface="Georgia"/>
              </a:rPr>
              <a:t> y </a:t>
            </a:r>
            <a:r>
              <a:rPr sz="1450" b="1" dirty="0" err="1">
                <a:solidFill>
                  <a:srgbClr val="594F4F"/>
                </a:solidFill>
                <a:latin typeface="Georgia"/>
              </a:rPr>
              <a:t>Decisión</a:t>
            </a:r>
            <a:r>
              <a:rPr sz="1450" b="1" dirty="0">
                <a:solidFill>
                  <a:srgbClr val="594F4F"/>
                </a:solidFill>
                <a:latin typeface="Georgia"/>
              </a:rPr>
              <a:t> Final</a:t>
            </a:r>
          </a:p>
          <a:p>
            <a:pPr>
              <a:spcBef>
                <a:spcPts val="600"/>
              </a:spcBef>
              <a:defRPr sz="1100">
                <a:solidFill>
                  <a:srgbClr val="594F4F"/>
                </a:solidFill>
                <a:latin typeface="Arial"/>
              </a:defRPr>
            </a:pPr>
            <a:r>
              <a:rPr lang="es-AR" dirty="0"/>
              <a:t>Análisis </a:t>
            </a:r>
            <a:r>
              <a:rPr dirty="0"/>
              <a:t>de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conjunto de </a:t>
            </a:r>
            <a:r>
              <a:rPr dirty="0" err="1"/>
              <a:t>prueba</a:t>
            </a:r>
            <a:r>
              <a:rPr dirty="0"/>
              <a:t> (F1-score) para </a:t>
            </a:r>
            <a:r>
              <a:rPr dirty="0" err="1"/>
              <a:t>proponer</a:t>
            </a:r>
            <a:r>
              <a:rPr dirty="0"/>
              <a:t> </a:t>
            </a:r>
            <a:r>
              <a:rPr lang="es-AR" dirty="0"/>
              <a:t>la mejor opción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E308DD-4ACF-BBA2-837D-D4F384C0F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40164E-6F52-E06C-6BBE-5474421980D9}"/>
              </a:ext>
            </a:extLst>
          </p:cNvPr>
          <p:cNvSpPr/>
          <p:nvPr/>
        </p:nvSpPr>
        <p:spPr>
          <a:xfrm>
            <a:off x="11704320" y="6400800"/>
            <a:ext cx="487375" cy="457200"/>
          </a:xfrm>
          <a:prstGeom prst="rect">
            <a:avLst/>
          </a:prstGeom>
          <a:solidFill>
            <a:srgbClr val="BEB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B39FDA-0E92-3924-20BE-DB01F8B734D7}"/>
              </a:ext>
            </a:extLst>
          </p:cNvPr>
          <p:cNvSpPr/>
          <p:nvPr/>
        </p:nvSpPr>
        <p:spPr>
          <a:xfrm>
            <a:off x="11430000" y="6583680"/>
            <a:ext cx="761695" cy="274320"/>
          </a:xfrm>
          <a:prstGeom prst="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00A11-896A-FC5F-A2E6-AF682B1BE48B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A47191-2991-522A-53CA-CF5D1CE19C89}"/>
              </a:ext>
            </a:extLst>
          </p:cNvPr>
          <p:cNvSpPr txBox="1"/>
          <p:nvPr/>
        </p:nvSpPr>
        <p:spPr>
          <a:xfrm>
            <a:off x="457200" y="577683"/>
            <a:ext cx="8686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A61C28"/>
                </a:solidFill>
                <a:latin typeface="Georgia"/>
              </a:defRPr>
            </a:pPr>
            <a:r>
              <a:rPr dirty="0" err="1"/>
              <a:t>Ejercicio</a:t>
            </a:r>
            <a:r>
              <a:rPr dirty="0"/>
              <a:t> </a:t>
            </a:r>
            <a:r>
              <a:rPr lang="es-AR" dirty="0"/>
              <a:t>1</a:t>
            </a:r>
            <a:r>
              <a:rPr dirty="0"/>
              <a:t>: </a:t>
            </a:r>
            <a:r>
              <a:rPr lang="es-AR" dirty="0"/>
              <a:t>Regresión Lineal - Logística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5E6DEAF-AD45-0061-B0C4-B2AF759E0F0B}"/>
              </a:ext>
            </a:extLst>
          </p:cNvPr>
          <p:cNvSpPr/>
          <p:nvPr/>
        </p:nvSpPr>
        <p:spPr>
          <a:xfrm>
            <a:off x="9418320" y="320040"/>
            <a:ext cx="2286000" cy="365760"/>
          </a:xfrm>
          <a:prstGeom prst="round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/>
              <a:t>EJERCICIO </a:t>
            </a:r>
            <a:r>
              <a:rPr lang="es-AR" dirty="0"/>
              <a:t>1</a:t>
            </a:r>
            <a:r>
              <a:rPr dirty="0"/>
              <a:t> </a:t>
            </a: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F2F77CD0-83E0-40CD-29D4-5288DBA1FEB6}"/>
              </a:ext>
            </a:extLst>
          </p:cNvPr>
          <p:cNvSpPr/>
          <p:nvPr/>
        </p:nvSpPr>
        <p:spPr>
          <a:xfrm>
            <a:off x="457200" y="1874520"/>
            <a:ext cx="3590675" cy="26689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1C28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t"/>
          <a:lstStyle/>
          <a:p>
            <a:pPr algn="ctr">
              <a:spcAft>
                <a:spcPts val="1000"/>
              </a:spcAft>
              <a:defRPr sz="1400" b="1">
                <a:solidFill>
                  <a:srgbClr val="A61C28"/>
                </a:solidFill>
                <a:latin typeface="Georgia"/>
              </a:defRPr>
            </a:pPr>
            <a:r>
              <a:rPr lang="es-AR" sz="3200" dirty="0"/>
              <a:t>1.1</a:t>
            </a:r>
            <a:endParaRPr sz="1600" dirty="0"/>
          </a:p>
          <a:p>
            <a:pPr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MX" sz="1600" dirty="0"/>
              <a:t>Dividir aleatoriamente el conjunto de datos para utilizar una parte de los mismos como</a:t>
            </a:r>
          </a:p>
          <a:p>
            <a:pPr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MX" sz="1600" dirty="0"/>
              <a:t>conjunto de entrenamiento (el 80 %) y otro como conjunto de prueba (el 20 %).</a:t>
            </a:r>
            <a:endParaRPr sz="1600" dirty="0"/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129A03C5-D44A-F6DE-B65B-3CC150052B21}"/>
              </a:ext>
            </a:extLst>
          </p:cNvPr>
          <p:cNvSpPr txBox="1"/>
          <p:nvPr/>
        </p:nvSpPr>
        <p:spPr>
          <a:xfrm>
            <a:off x="457200" y="1061258"/>
            <a:ext cx="10972800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lang="es-MX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 desea conocer el rendimiento de un estudiante al rendir un examen teniendo en cuenta la cantidad de horas de estudio por semana, las calificaciones obtenidas previamente y el porcentaje de asistencia a las clases</a:t>
            </a:r>
            <a:endParaRPr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D5D10ABA-1AD1-BB96-0567-9845E3ED2665}"/>
              </a:ext>
            </a:extLst>
          </p:cNvPr>
          <p:cNvSpPr/>
          <p:nvPr/>
        </p:nvSpPr>
        <p:spPr>
          <a:xfrm>
            <a:off x="8220172" y="1867603"/>
            <a:ext cx="3590675" cy="26689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1C28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t"/>
          <a:lstStyle/>
          <a:p>
            <a:pPr algn="ctr">
              <a:spcAft>
                <a:spcPts val="1000"/>
              </a:spcAft>
              <a:defRPr sz="1400" b="1">
                <a:solidFill>
                  <a:srgbClr val="A61C28"/>
                </a:solidFill>
                <a:latin typeface="Georgia"/>
              </a:defRPr>
            </a:pPr>
            <a:r>
              <a:rPr lang="es-AR" sz="3200" dirty="0"/>
              <a:t>1.3</a:t>
            </a:r>
            <a:endParaRPr sz="1600" dirty="0"/>
          </a:p>
          <a:p>
            <a:pPr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MX" sz="1520" dirty="0"/>
              <a:t>Hallar la ecuación del modelo de regresión lineal logística, construir la matriz de confusión para el conjunto de prueba y calcular el valor de </a:t>
            </a:r>
            <a:r>
              <a:rPr lang="es-MX" sz="1520" dirty="0" err="1"/>
              <a:t>accuracy</a:t>
            </a:r>
            <a:r>
              <a:rPr lang="es-MX" sz="1520" dirty="0"/>
              <a:t> y el F1-score. (Este modelo puede construirse con bibliotecas específicas.)</a:t>
            </a:r>
            <a:endParaRPr sz="1520" dirty="0"/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4A62B9B2-A259-921C-C1C8-9057DECE584C}"/>
              </a:ext>
            </a:extLst>
          </p:cNvPr>
          <p:cNvSpPr/>
          <p:nvPr/>
        </p:nvSpPr>
        <p:spPr>
          <a:xfrm>
            <a:off x="4300509" y="1867602"/>
            <a:ext cx="3590675" cy="26689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1C28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t"/>
          <a:lstStyle/>
          <a:p>
            <a:pPr algn="ctr">
              <a:spcAft>
                <a:spcPts val="1000"/>
              </a:spcAft>
              <a:defRPr sz="1400" b="1">
                <a:solidFill>
                  <a:srgbClr val="A61C28"/>
                </a:solidFill>
                <a:latin typeface="Georgia"/>
              </a:defRPr>
            </a:pPr>
            <a:r>
              <a:rPr lang="es-AR" sz="3200" dirty="0"/>
              <a:t>1.2</a:t>
            </a:r>
            <a:endParaRPr sz="1600" dirty="0"/>
          </a:p>
          <a:p>
            <a:pPr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MX" sz="1600" dirty="0"/>
              <a:t>Hallar la ecuación del modelo de regresión lineal múltiple y calcular el coeficiente de</a:t>
            </a:r>
          </a:p>
          <a:p>
            <a:pPr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MX" sz="1600" dirty="0"/>
              <a:t>determinación R2.</a:t>
            </a:r>
            <a:endParaRPr sz="1600" dirty="0"/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0FFC2CAD-F64F-FEAF-3550-F44244301B98}"/>
              </a:ext>
            </a:extLst>
          </p:cNvPr>
          <p:cNvSpPr/>
          <p:nvPr/>
        </p:nvSpPr>
        <p:spPr>
          <a:xfrm>
            <a:off x="1343025" y="4911964"/>
            <a:ext cx="9201150" cy="18088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1C28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t"/>
          <a:lstStyle/>
          <a:p>
            <a:pPr algn="ctr">
              <a:spcAft>
                <a:spcPts val="1000"/>
              </a:spcAft>
              <a:defRPr sz="1400" b="1">
                <a:solidFill>
                  <a:srgbClr val="A61C28"/>
                </a:solidFill>
                <a:latin typeface="Georgia"/>
              </a:defRPr>
            </a:pPr>
            <a:r>
              <a:rPr lang="es-AR" sz="3200" dirty="0"/>
              <a:t>1.4</a:t>
            </a:r>
            <a:endParaRPr sz="1600" dirty="0"/>
          </a:p>
          <a:p>
            <a:pPr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MX" sz="1600" dirty="0"/>
              <a:t>Utilizar cada uno de los modelos hallados para predecir la calificación obtenida y la</a:t>
            </a:r>
          </a:p>
          <a:p>
            <a:pPr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MX" sz="1600" dirty="0"/>
              <a:t>condición de aprobación de un estudiante que le dedicó 25 horas de estudio a la semana,</a:t>
            </a:r>
          </a:p>
          <a:p>
            <a:pPr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MX" sz="1600" dirty="0"/>
              <a:t>que asistió un 58% a las clases y obtuvo una calificación de 68 puntos en exámenes previos.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804135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2D34DD-211B-84C6-09BD-6068F9587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BB80B7-2B8C-2A4C-D4F5-DA9682FB638C}"/>
              </a:ext>
            </a:extLst>
          </p:cNvPr>
          <p:cNvSpPr/>
          <p:nvPr/>
        </p:nvSpPr>
        <p:spPr>
          <a:xfrm>
            <a:off x="11704320" y="6400800"/>
            <a:ext cx="487375" cy="457200"/>
          </a:xfrm>
          <a:prstGeom prst="rect">
            <a:avLst/>
          </a:prstGeom>
          <a:solidFill>
            <a:srgbClr val="BEB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071A2F-003A-AFB2-F772-BDAEB24D3ABE}"/>
              </a:ext>
            </a:extLst>
          </p:cNvPr>
          <p:cNvSpPr/>
          <p:nvPr/>
        </p:nvSpPr>
        <p:spPr>
          <a:xfrm>
            <a:off x="11430000" y="6583680"/>
            <a:ext cx="761695" cy="274320"/>
          </a:xfrm>
          <a:prstGeom prst="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0AF75A-27C0-9F2E-B8C3-9DC570BFB36E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8028B57B-702B-F052-D3C3-FB521A0F8C2D}"/>
              </a:ext>
            </a:extLst>
          </p:cNvPr>
          <p:cNvSpPr/>
          <p:nvPr/>
        </p:nvSpPr>
        <p:spPr>
          <a:xfrm>
            <a:off x="217503" y="320040"/>
            <a:ext cx="6076765" cy="6400356"/>
          </a:xfrm>
          <a:prstGeom prst="rect">
            <a:avLst/>
          </a:prstGeom>
          <a:solidFill>
            <a:srgbClr val="1E1E1E"/>
          </a:solidFill>
          <a:ln w="127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def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leer_csv</a:t>
            </a:r>
            <a:r>
              <a:rPr lang="es-AR" sz="1100" dirty="0">
                <a:latin typeface="Consolas" panose="020B0609020204030204" pitchFamily="49" charset="0"/>
              </a:rPr>
              <a:t>(ruta, separador=",", </a:t>
            </a:r>
            <a:r>
              <a:rPr lang="es-AR" sz="1100" dirty="0" err="1">
                <a:latin typeface="Consolas" panose="020B0609020204030204" pitchFamily="49" charset="0"/>
              </a:rPr>
              <a:t>encoding</a:t>
            </a:r>
            <a:r>
              <a:rPr lang="es-AR" sz="1100" dirty="0">
                <a:latin typeface="Consolas" panose="020B0609020204030204" pitchFamily="49" charset="0"/>
              </a:rPr>
              <a:t>="latin1") -&gt; </a:t>
            </a:r>
            <a:r>
              <a:rPr lang="es-AR" sz="1100" dirty="0" err="1">
                <a:latin typeface="Consolas" panose="020B0609020204030204" pitchFamily="49" charset="0"/>
              </a:rPr>
              <a:t>pd.DataFrame</a:t>
            </a:r>
            <a:r>
              <a:rPr lang="es-AR" sz="1100" dirty="0">
                <a:latin typeface="Consolas" panose="020B0609020204030204" pitchFamily="49" charset="0"/>
              </a:rPr>
              <a:t>: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df</a:t>
            </a:r>
            <a:r>
              <a:rPr lang="es-AR" sz="1100" dirty="0">
                <a:latin typeface="Consolas" panose="020B0609020204030204" pitchFamily="49" charset="0"/>
              </a:rPr>
              <a:t> = </a:t>
            </a:r>
            <a:r>
              <a:rPr lang="es-AR" sz="1100" dirty="0" err="1">
                <a:latin typeface="Consolas" panose="020B0609020204030204" pitchFamily="49" charset="0"/>
              </a:rPr>
              <a:t>pd.read_csv</a:t>
            </a:r>
            <a:r>
              <a:rPr lang="es-AR" sz="1100" dirty="0">
                <a:latin typeface="Consolas" panose="020B0609020204030204" pitchFamily="49" charset="0"/>
              </a:rPr>
              <a:t>(ruta, </a:t>
            </a:r>
            <a:r>
              <a:rPr lang="es-AR" sz="1100" dirty="0" err="1">
                <a:latin typeface="Consolas" panose="020B0609020204030204" pitchFamily="49" charset="0"/>
              </a:rPr>
              <a:t>sep</a:t>
            </a:r>
            <a:r>
              <a:rPr lang="es-AR" sz="1100" dirty="0">
                <a:latin typeface="Consolas" panose="020B0609020204030204" pitchFamily="49" charset="0"/>
              </a:rPr>
              <a:t>=separador, </a:t>
            </a:r>
            <a:r>
              <a:rPr lang="es-AR" sz="1100" dirty="0" err="1">
                <a:latin typeface="Consolas" panose="020B0609020204030204" pitchFamily="49" charset="0"/>
              </a:rPr>
              <a:t>encoding</a:t>
            </a:r>
            <a:r>
              <a:rPr lang="es-AR" sz="1100" dirty="0">
                <a:latin typeface="Consolas" panose="020B0609020204030204" pitchFamily="49" charset="0"/>
              </a:rPr>
              <a:t>=</a:t>
            </a:r>
            <a:r>
              <a:rPr lang="es-AR" sz="1100" dirty="0" err="1">
                <a:latin typeface="Consolas" panose="020B0609020204030204" pitchFamily="49" charset="0"/>
              </a:rPr>
              <a:t>encoding</a:t>
            </a:r>
            <a:r>
              <a:rPr lang="es-AR" sz="1100" dirty="0">
                <a:latin typeface="Consolas" panose="020B0609020204030204" pitchFamily="49" charset="0"/>
              </a:rPr>
              <a:t>)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return</a:t>
            </a:r>
            <a:r>
              <a:rPr lang="es-AR" sz="1100" dirty="0">
                <a:latin typeface="Consolas" panose="020B0609020204030204" pitchFamily="49" charset="0"/>
              </a:rPr>
              <a:t> </a:t>
            </a:r>
            <a:r>
              <a:rPr lang="es-AR" sz="1100" dirty="0" err="1">
                <a:latin typeface="Consolas" panose="020B0609020204030204" pitchFamily="49" charset="0"/>
              </a:rPr>
              <a:t>df</a:t>
            </a:r>
            <a:endParaRPr lang="es-AR" sz="1100" dirty="0">
              <a:latin typeface="Consolas" panose="020B0609020204030204" pitchFamily="49" charset="0"/>
            </a:endParaRP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def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contar_nulos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df</a:t>
            </a:r>
            <a:r>
              <a:rPr lang="es-AR" sz="1100" dirty="0">
                <a:latin typeface="Consolas" panose="020B0609020204030204" pitchFamily="49" charset="0"/>
              </a:rPr>
              <a:t>) -&gt; </a:t>
            </a:r>
            <a:r>
              <a:rPr lang="es-AR" sz="1100" dirty="0" err="1">
                <a:latin typeface="Consolas" panose="020B0609020204030204" pitchFamily="49" charset="0"/>
              </a:rPr>
              <a:t>pd.Series</a:t>
            </a:r>
            <a:r>
              <a:rPr lang="es-AR" sz="1100" dirty="0">
                <a:latin typeface="Consolas" panose="020B0609020204030204" pitchFamily="49" charset="0"/>
              </a:rPr>
              <a:t>: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return</a:t>
            </a:r>
            <a:r>
              <a:rPr lang="es-AR" sz="1100" dirty="0">
                <a:latin typeface="Consolas" panose="020B0609020204030204" pitchFamily="49" charset="0"/>
              </a:rPr>
              <a:t> </a:t>
            </a:r>
            <a:r>
              <a:rPr lang="es-AR" sz="1100" dirty="0" err="1">
                <a:latin typeface="Consolas" panose="020B0609020204030204" pitchFamily="49" charset="0"/>
              </a:rPr>
              <a:t>df.isnull</a:t>
            </a:r>
            <a:r>
              <a:rPr lang="es-AR" sz="1100" dirty="0">
                <a:latin typeface="Consolas" panose="020B0609020204030204" pitchFamily="49" charset="0"/>
              </a:rPr>
              <a:t>().sum()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def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eliminar_duplicados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df</a:t>
            </a:r>
            <a:r>
              <a:rPr lang="es-AR" sz="1100" dirty="0">
                <a:latin typeface="Consolas" panose="020B0609020204030204" pitchFamily="49" charset="0"/>
              </a:rPr>
              <a:t>) -&gt; </a:t>
            </a:r>
            <a:r>
              <a:rPr lang="es-AR" sz="1100" dirty="0" err="1">
                <a:latin typeface="Consolas" panose="020B0609020204030204" pitchFamily="49" charset="0"/>
              </a:rPr>
              <a:t>pd.DataFrame</a:t>
            </a:r>
            <a:r>
              <a:rPr lang="es-AR" sz="1100" dirty="0">
                <a:latin typeface="Consolas" panose="020B0609020204030204" pitchFamily="49" charset="0"/>
              </a:rPr>
              <a:t>: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return</a:t>
            </a:r>
            <a:r>
              <a:rPr lang="es-AR" sz="1100" dirty="0">
                <a:latin typeface="Consolas" panose="020B0609020204030204" pitchFamily="49" charset="0"/>
              </a:rPr>
              <a:t> </a:t>
            </a:r>
            <a:r>
              <a:rPr lang="es-AR" sz="1100" dirty="0" err="1">
                <a:latin typeface="Consolas" panose="020B0609020204030204" pitchFamily="49" charset="0"/>
              </a:rPr>
              <a:t>df.drop_duplicates</a:t>
            </a:r>
            <a:r>
              <a:rPr lang="es-AR" sz="1100" dirty="0">
                <a:latin typeface="Consolas" panose="020B0609020204030204" pitchFamily="49" charset="0"/>
              </a:rPr>
              <a:t>().</a:t>
            </a:r>
            <a:r>
              <a:rPr lang="es-AR" sz="1100" dirty="0" err="1">
                <a:latin typeface="Consolas" panose="020B0609020204030204" pitchFamily="49" charset="0"/>
              </a:rPr>
              <a:t>reset_index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drop</a:t>
            </a:r>
            <a:r>
              <a:rPr lang="es-AR" sz="1100" dirty="0">
                <a:latin typeface="Consolas" panose="020B0609020204030204" pitchFamily="49" charset="0"/>
              </a:rPr>
              <a:t>=True)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def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codificar_binaria</a:t>
            </a:r>
            <a:r>
              <a:rPr lang="es-AR" sz="1100" dirty="0">
                <a:latin typeface="Consolas" panose="020B0609020204030204" pitchFamily="49" charset="0"/>
              </a:rPr>
              <a:t>(serie, </a:t>
            </a:r>
            <a:r>
              <a:rPr lang="es-AR" sz="1100" dirty="0" err="1">
                <a:latin typeface="Consolas" panose="020B0609020204030204" pitchFamily="49" charset="0"/>
              </a:rPr>
              <a:t>valor_positivo</a:t>
            </a:r>
            <a:r>
              <a:rPr lang="es-AR" sz="1100" dirty="0">
                <a:latin typeface="Consolas" panose="020B0609020204030204" pitchFamily="49" charset="0"/>
              </a:rPr>
              <a:t>) -&gt; </a:t>
            </a:r>
            <a:r>
              <a:rPr lang="es-AR" sz="1100" dirty="0" err="1">
                <a:latin typeface="Consolas" panose="020B0609020204030204" pitchFamily="49" charset="0"/>
              </a:rPr>
              <a:t>pd.Series</a:t>
            </a:r>
            <a:r>
              <a:rPr lang="es-AR" sz="1100" dirty="0">
                <a:latin typeface="Consolas" panose="020B0609020204030204" pitchFamily="49" charset="0"/>
              </a:rPr>
              <a:t>: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return</a:t>
            </a:r>
            <a:r>
              <a:rPr lang="es-AR" sz="1100" dirty="0">
                <a:latin typeface="Consolas" panose="020B0609020204030204" pitchFamily="49" charset="0"/>
              </a:rPr>
              <a:t> (serie == </a:t>
            </a:r>
            <a:r>
              <a:rPr lang="es-AR" sz="1100" dirty="0" err="1">
                <a:latin typeface="Consolas" panose="020B0609020204030204" pitchFamily="49" charset="0"/>
              </a:rPr>
              <a:t>valor_positivo</a:t>
            </a:r>
            <a:r>
              <a:rPr lang="es-AR" sz="1100" dirty="0">
                <a:latin typeface="Consolas" panose="020B0609020204030204" pitchFamily="49" charset="0"/>
              </a:rPr>
              <a:t>).</a:t>
            </a:r>
            <a:r>
              <a:rPr lang="es-AR" sz="1100" dirty="0" err="1">
                <a:latin typeface="Consolas" panose="020B0609020204030204" pitchFamily="49" charset="0"/>
              </a:rPr>
              <a:t>astype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int</a:t>
            </a:r>
            <a:r>
              <a:rPr lang="es-AR" sz="1100" dirty="0">
                <a:latin typeface="Consolas" panose="020B0609020204030204" pitchFamily="49" charset="0"/>
              </a:rPr>
              <a:t>)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def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separar_train_test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df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tam_test</a:t>
            </a:r>
            <a:r>
              <a:rPr lang="es-AR" sz="1100" dirty="0">
                <a:latin typeface="Consolas" panose="020B0609020204030204" pitchFamily="49" charset="0"/>
              </a:rPr>
              <a:t>=0.2, semilla=</a:t>
            </a:r>
            <a:r>
              <a:rPr lang="es-AR" sz="1100" dirty="0" err="1">
                <a:latin typeface="Consolas" panose="020B0609020204030204" pitchFamily="49" charset="0"/>
              </a:rPr>
              <a:t>None</a:t>
            </a:r>
            <a:r>
              <a:rPr lang="es-AR" sz="1100" dirty="0">
                <a:latin typeface="Consolas" panose="020B0609020204030204" pitchFamily="49" charset="0"/>
              </a:rPr>
              <a:t>) -&gt; </a:t>
            </a:r>
            <a:r>
              <a:rPr lang="es-AR" sz="1100" dirty="0" err="1">
                <a:latin typeface="Consolas" panose="020B0609020204030204" pitchFamily="49" charset="0"/>
              </a:rPr>
              <a:t>list</a:t>
            </a:r>
            <a:r>
              <a:rPr lang="es-AR" sz="1100" dirty="0">
                <a:latin typeface="Consolas" panose="020B0609020204030204" pitchFamily="49" charset="0"/>
              </a:rPr>
              <a:t>[</a:t>
            </a:r>
            <a:r>
              <a:rPr lang="es-AR" sz="1100" dirty="0" err="1">
                <a:latin typeface="Consolas" panose="020B0609020204030204" pitchFamily="49" charset="0"/>
              </a:rPr>
              <a:t>pd.DataFrame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pd.DataFrame</a:t>
            </a:r>
            <a:r>
              <a:rPr lang="es-AR" sz="1100" dirty="0">
                <a:latin typeface="Consolas" panose="020B0609020204030204" pitchFamily="49" charset="0"/>
              </a:rPr>
              <a:t>]: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if</a:t>
            </a:r>
            <a:r>
              <a:rPr lang="es-AR" sz="1100" dirty="0">
                <a:latin typeface="Consolas" panose="020B0609020204030204" pitchFamily="49" charset="0"/>
              </a:rPr>
              <a:t> semilla </a:t>
            </a:r>
            <a:r>
              <a:rPr lang="es-AR" sz="1100" dirty="0" err="1">
                <a:latin typeface="Consolas" panose="020B0609020204030204" pitchFamily="49" charset="0"/>
              </a:rPr>
              <a:t>is</a:t>
            </a:r>
            <a:r>
              <a:rPr lang="es-AR" sz="1100" dirty="0">
                <a:latin typeface="Consolas" panose="020B0609020204030204" pitchFamily="49" charset="0"/>
              </a:rPr>
              <a:t> </a:t>
            </a:r>
            <a:r>
              <a:rPr lang="es-AR" sz="1100" dirty="0" err="1">
                <a:latin typeface="Consolas" panose="020B0609020204030204" pitchFamily="49" charset="0"/>
              </a:rPr>
              <a:t>not</a:t>
            </a:r>
            <a:r>
              <a:rPr lang="es-AR" sz="1100" dirty="0">
                <a:latin typeface="Consolas" panose="020B0609020204030204" pitchFamily="49" charset="0"/>
              </a:rPr>
              <a:t> </a:t>
            </a:r>
            <a:r>
              <a:rPr lang="es-AR" sz="1100" dirty="0" err="1">
                <a:latin typeface="Consolas" panose="020B0609020204030204" pitchFamily="49" charset="0"/>
              </a:rPr>
              <a:t>None</a:t>
            </a:r>
            <a:r>
              <a:rPr lang="es-AR" sz="1100" dirty="0">
                <a:latin typeface="Consolas" panose="020B0609020204030204" pitchFamily="49" charset="0"/>
              </a:rPr>
              <a:t>: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    </a:t>
            </a:r>
            <a:r>
              <a:rPr lang="es-AR" sz="1100" dirty="0" err="1">
                <a:latin typeface="Consolas" panose="020B0609020204030204" pitchFamily="49" charset="0"/>
              </a:rPr>
              <a:t>np.random.seed</a:t>
            </a:r>
            <a:r>
              <a:rPr lang="es-AR" sz="1100" dirty="0">
                <a:latin typeface="Consolas" panose="020B0609020204030204" pitchFamily="49" charset="0"/>
              </a:rPr>
              <a:t>(semilla)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indices</a:t>
            </a:r>
            <a:r>
              <a:rPr lang="es-AR" sz="1100" dirty="0">
                <a:latin typeface="Consolas" panose="020B0609020204030204" pitchFamily="49" charset="0"/>
              </a:rPr>
              <a:t> = </a:t>
            </a:r>
            <a:r>
              <a:rPr lang="es-AR" sz="1100" dirty="0" err="1">
                <a:latin typeface="Consolas" panose="020B0609020204030204" pitchFamily="49" charset="0"/>
              </a:rPr>
              <a:t>np.random.permutation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len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df</a:t>
            </a:r>
            <a:r>
              <a:rPr lang="es-AR" sz="1100" dirty="0">
                <a:latin typeface="Consolas" panose="020B0609020204030204" pitchFamily="49" charset="0"/>
              </a:rPr>
              <a:t>))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corte = </a:t>
            </a:r>
            <a:r>
              <a:rPr lang="es-AR" sz="1100" dirty="0" err="1">
                <a:latin typeface="Consolas" panose="020B0609020204030204" pitchFamily="49" charset="0"/>
              </a:rPr>
              <a:t>int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len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df</a:t>
            </a:r>
            <a:r>
              <a:rPr lang="es-AR" sz="1100" dirty="0">
                <a:latin typeface="Consolas" panose="020B0609020204030204" pitchFamily="49" charset="0"/>
              </a:rPr>
              <a:t>) * </a:t>
            </a:r>
            <a:r>
              <a:rPr lang="es-AR" sz="1100" dirty="0" err="1">
                <a:latin typeface="Consolas" panose="020B0609020204030204" pitchFamily="49" charset="0"/>
              </a:rPr>
              <a:t>tam_test</a:t>
            </a:r>
            <a:r>
              <a:rPr lang="es-AR" sz="1100" dirty="0">
                <a:latin typeface="Consolas" panose="020B0609020204030204" pitchFamily="49" charset="0"/>
              </a:rPr>
              <a:t>)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indices_test</a:t>
            </a:r>
            <a:r>
              <a:rPr lang="es-AR" sz="1100" dirty="0">
                <a:latin typeface="Consolas" panose="020B0609020204030204" pitchFamily="49" charset="0"/>
              </a:rPr>
              <a:t> = </a:t>
            </a:r>
            <a:r>
              <a:rPr lang="es-AR" sz="1100" dirty="0" err="1">
                <a:latin typeface="Consolas" panose="020B0609020204030204" pitchFamily="49" charset="0"/>
              </a:rPr>
              <a:t>indices</a:t>
            </a:r>
            <a:r>
              <a:rPr lang="es-AR" sz="1100" dirty="0">
                <a:latin typeface="Consolas" panose="020B0609020204030204" pitchFamily="49" charset="0"/>
              </a:rPr>
              <a:t>[:corte]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indices_train</a:t>
            </a:r>
            <a:r>
              <a:rPr lang="es-AR" sz="1100" dirty="0">
                <a:latin typeface="Consolas" panose="020B0609020204030204" pitchFamily="49" charset="0"/>
              </a:rPr>
              <a:t> = </a:t>
            </a:r>
            <a:r>
              <a:rPr lang="es-AR" sz="1100" dirty="0" err="1">
                <a:latin typeface="Consolas" panose="020B0609020204030204" pitchFamily="49" charset="0"/>
              </a:rPr>
              <a:t>indices</a:t>
            </a:r>
            <a:r>
              <a:rPr lang="es-AR" sz="1100" dirty="0">
                <a:latin typeface="Consolas" panose="020B0609020204030204" pitchFamily="49" charset="0"/>
              </a:rPr>
              <a:t>[corte:]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df_train</a:t>
            </a:r>
            <a:r>
              <a:rPr lang="es-AR" sz="1100" dirty="0">
                <a:latin typeface="Consolas" panose="020B0609020204030204" pitchFamily="49" charset="0"/>
              </a:rPr>
              <a:t> = </a:t>
            </a:r>
            <a:r>
              <a:rPr lang="es-AR" sz="1100" dirty="0" err="1">
                <a:latin typeface="Consolas" panose="020B0609020204030204" pitchFamily="49" charset="0"/>
              </a:rPr>
              <a:t>df.iloc</a:t>
            </a:r>
            <a:r>
              <a:rPr lang="es-AR" sz="1100" dirty="0">
                <a:latin typeface="Consolas" panose="020B0609020204030204" pitchFamily="49" charset="0"/>
              </a:rPr>
              <a:t>[</a:t>
            </a:r>
            <a:r>
              <a:rPr lang="es-AR" sz="1100" dirty="0" err="1">
                <a:latin typeface="Consolas" panose="020B0609020204030204" pitchFamily="49" charset="0"/>
              </a:rPr>
              <a:t>indices_train</a:t>
            </a:r>
            <a:r>
              <a:rPr lang="es-AR" sz="1100" dirty="0">
                <a:latin typeface="Consolas" panose="020B0609020204030204" pitchFamily="49" charset="0"/>
              </a:rPr>
              <a:t>].</a:t>
            </a:r>
            <a:r>
              <a:rPr lang="es-AR" sz="1100" dirty="0" err="1">
                <a:latin typeface="Consolas" panose="020B0609020204030204" pitchFamily="49" charset="0"/>
              </a:rPr>
              <a:t>reset_index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drop</a:t>
            </a:r>
            <a:r>
              <a:rPr lang="es-AR" sz="1100" dirty="0">
                <a:latin typeface="Consolas" panose="020B0609020204030204" pitchFamily="49" charset="0"/>
              </a:rPr>
              <a:t>=True)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df_test</a:t>
            </a:r>
            <a:r>
              <a:rPr lang="es-AR" sz="1100" dirty="0">
                <a:latin typeface="Consolas" panose="020B0609020204030204" pitchFamily="49" charset="0"/>
              </a:rPr>
              <a:t> = </a:t>
            </a:r>
            <a:r>
              <a:rPr lang="es-AR" sz="1100" dirty="0" err="1">
                <a:latin typeface="Consolas" panose="020B0609020204030204" pitchFamily="49" charset="0"/>
              </a:rPr>
              <a:t>df.iloc</a:t>
            </a:r>
            <a:r>
              <a:rPr lang="es-AR" sz="1100" dirty="0">
                <a:latin typeface="Consolas" panose="020B0609020204030204" pitchFamily="49" charset="0"/>
              </a:rPr>
              <a:t>[</a:t>
            </a:r>
            <a:r>
              <a:rPr lang="es-AR" sz="1100" dirty="0" err="1">
                <a:latin typeface="Consolas" panose="020B0609020204030204" pitchFamily="49" charset="0"/>
              </a:rPr>
              <a:t>indices_test</a:t>
            </a:r>
            <a:r>
              <a:rPr lang="es-AR" sz="1100" dirty="0">
                <a:latin typeface="Consolas" panose="020B0609020204030204" pitchFamily="49" charset="0"/>
              </a:rPr>
              <a:t>].</a:t>
            </a:r>
            <a:r>
              <a:rPr lang="es-AR" sz="1100" dirty="0" err="1">
                <a:latin typeface="Consolas" panose="020B0609020204030204" pitchFamily="49" charset="0"/>
              </a:rPr>
              <a:t>reset_index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drop</a:t>
            </a:r>
            <a:r>
              <a:rPr lang="es-AR" sz="1100" dirty="0">
                <a:latin typeface="Consolas" panose="020B0609020204030204" pitchFamily="49" charset="0"/>
              </a:rPr>
              <a:t>=True)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return</a:t>
            </a:r>
            <a:r>
              <a:rPr lang="es-AR" sz="1100" dirty="0">
                <a:latin typeface="Consolas" panose="020B0609020204030204" pitchFamily="49" charset="0"/>
              </a:rPr>
              <a:t> [</a:t>
            </a:r>
            <a:r>
              <a:rPr lang="es-AR" sz="1100" dirty="0" err="1">
                <a:latin typeface="Consolas" panose="020B0609020204030204" pitchFamily="49" charset="0"/>
              </a:rPr>
              <a:t>df_train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df_test</a:t>
            </a:r>
            <a:r>
              <a:rPr lang="es-AR" sz="1100" dirty="0">
                <a:latin typeface="Consolas" panose="020B0609020204030204" pitchFamily="49" charset="0"/>
              </a:rPr>
              <a:t>]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def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evaluar_clasificacion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y_true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y_pred</a:t>
            </a:r>
            <a:r>
              <a:rPr lang="es-AR" sz="1100" dirty="0">
                <a:latin typeface="Consolas" panose="020B0609020204030204" pitchFamily="49" charset="0"/>
              </a:rPr>
              <a:t>) -&gt; </a:t>
            </a:r>
            <a:r>
              <a:rPr lang="es-AR" sz="1100" dirty="0" err="1">
                <a:latin typeface="Consolas" panose="020B0609020204030204" pitchFamily="49" charset="0"/>
              </a:rPr>
              <a:t>dict</a:t>
            </a:r>
            <a:r>
              <a:rPr lang="es-AR" sz="1100" dirty="0">
                <a:latin typeface="Consolas" panose="020B0609020204030204" pitchFamily="49" charset="0"/>
              </a:rPr>
              <a:t>: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return</a:t>
            </a:r>
            <a:r>
              <a:rPr lang="es-AR" sz="1100" dirty="0">
                <a:latin typeface="Consolas" panose="020B0609020204030204" pitchFamily="49" charset="0"/>
              </a:rPr>
              <a:t> {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    "</a:t>
            </a:r>
            <a:r>
              <a:rPr lang="es-AR" sz="1100" dirty="0" err="1">
                <a:latin typeface="Consolas" panose="020B0609020204030204" pitchFamily="49" charset="0"/>
              </a:rPr>
              <a:t>matriz_confusion</a:t>
            </a:r>
            <a:r>
              <a:rPr lang="es-AR" sz="1100" dirty="0">
                <a:latin typeface="Consolas" panose="020B0609020204030204" pitchFamily="49" charset="0"/>
              </a:rPr>
              <a:t>": </a:t>
            </a:r>
            <a:r>
              <a:rPr lang="es-AR" sz="1100" dirty="0" err="1">
                <a:latin typeface="Consolas" panose="020B0609020204030204" pitchFamily="49" charset="0"/>
              </a:rPr>
              <a:t>matriz_confusion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y_true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y_pred</a:t>
            </a:r>
            <a:r>
              <a:rPr lang="es-AR" sz="1100" dirty="0">
                <a:latin typeface="Consolas" panose="020B0609020204030204" pitchFamily="49" charset="0"/>
              </a:rPr>
              <a:t>),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    "</a:t>
            </a:r>
            <a:r>
              <a:rPr lang="es-AR" sz="1100" dirty="0" err="1">
                <a:latin typeface="Consolas" panose="020B0609020204030204" pitchFamily="49" charset="0"/>
              </a:rPr>
              <a:t>accuracy</a:t>
            </a:r>
            <a:r>
              <a:rPr lang="es-AR" sz="1100" dirty="0">
                <a:latin typeface="Consolas" panose="020B0609020204030204" pitchFamily="49" charset="0"/>
              </a:rPr>
              <a:t>": </a:t>
            </a:r>
            <a:r>
              <a:rPr lang="es-AR" sz="1100" dirty="0" err="1">
                <a:latin typeface="Consolas" panose="020B0609020204030204" pitchFamily="49" charset="0"/>
              </a:rPr>
              <a:t>accuracy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y_true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y_pred</a:t>
            </a:r>
            <a:r>
              <a:rPr lang="es-AR" sz="1100" dirty="0">
                <a:latin typeface="Consolas" panose="020B0609020204030204" pitchFamily="49" charset="0"/>
              </a:rPr>
              <a:t>),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    "f1_score": f1_score(</a:t>
            </a:r>
            <a:r>
              <a:rPr lang="es-AR" sz="1100" dirty="0" err="1">
                <a:latin typeface="Consolas" panose="020B0609020204030204" pitchFamily="49" charset="0"/>
              </a:rPr>
              <a:t>y_true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y_pred</a:t>
            </a:r>
            <a:r>
              <a:rPr lang="es-AR" sz="1100" dirty="0">
                <a:latin typeface="Consolas" panose="020B0609020204030204" pitchFamily="49" charset="0"/>
              </a:rPr>
              <a:t>),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}</a:t>
            </a:r>
          </a:p>
          <a:p>
            <a:pPr>
              <a:defRPr sz="1000">
                <a:solidFill>
                  <a:srgbClr val="D4D4D4"/>
                </a:solidFill>
                <a:latin typeface="Consolas"/>
              </a:defRPr>
            </a:pPr>
            <a:endParaRPr dirty="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9241F605-F2C2-A585-2C72-55C108417540}"/>
              </a:ext>
            </a:extLst>
          </p:cNvPr>
          <p:cNvSpPr/>
          <p:nvPr/>
        </p:nvSpPr>
        <p:spPr>
          <a:xfrm>
            <a:off x="6459541" y="320040"/>
            <a:ext cx="4734757" cy="6400356"/>
          </a:xfrm>
          <a:prstGeom prst="rect">
            <a:avLst/>
          </a:prstGeom>
          <a:solidFill>
            <a:srgbClr val="1E1E1E"/>
          </a:solidFill>
          <a:ln w="127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def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matriz_confusion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y_true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y_pred</a:t>
            </a:r>
            <a:r>
              <a:rPr lang="es-AR" sz="1100" dirty="0">
                <a:latin typeface="Consolas" panose="020B0609020204030204" pitchFamily="49" charset="0"/>
              </a:rPr>
              <a:t>)-&gt; </a:t>
            </a:r>
            <a:r>
              <a:rPr lang="es-AR" sz="1100" dirty="0" err="1">
                <a:latin typeface="Consolas" panose="020B0609020204030204" pitchFamily="49" charset="0"/>
              </a:rPr>
              <a:t>dict</a:t>
            </a:r>
            <a:r>
              <a:rPr lang="es-AR" sz="1100" dirty="0">
                <a:latin typeface="Consolas" panose="020B0609020204030204" pitchFamily="49" charset="0"/>
              </a:rPr>
              <a:t>: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TP = FP = TN = FN = 0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for</a:t>
            </a:r>
            <a:r>
              <a:rPr lang="es-AR" sz="1100" dirty="0">
                <a:latin typeface="Consolas" panose="020B0609020204030204" pitchFamily="49" charset="0"/>
              </a:rPr>
              <a:t> true, </a:t>
            </a:r>
            <a:r>
              <a:rPr lang="es-AR" sz="1100" dirty="0" err="1">
                <a:latin typeface="Consolas" panose="020B0609020204030204" pitchFamily="49" charset="0"/>
              </a:rPr>
              <a:t>pred</a:t>
            </a:r>
            <a:r>
              <a:rPr lang="es-AR" sz="1100" dirty="0">
                <a:latin typeface="Consolas" panose="020B0609020204030204" pitchFamily="49" charset="0"/>
              </a:rPr>
              <a:t> in zip(</a:t>
            </a:r>
            <a:r>
              <a:rPr lang="es-AR" sz="1100" dirty="0" err="1">
                <a:latin typeface="Consolas" panose="020B0609020204030204" pitchFamily="49" charset="0"/>
              </a:rPr>
              <a:t>y_true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y_pred</a:t>
            </a:r>
            <a:r>
              <a:rPr lang="es-AR" sz="1100" dirty="0">
                <a:latin typeface="Consolas" panose="020B0609020204030204" pitchFamily="49" charset="0"/>
              </a:rPr>
              <a:t>):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    </a:t>
            </a:r>
            <a:r>
              <a:rPr lang="es-AR" sz="1100" dirty="0" err="1">
                <a:latin typeface="Consolas" panose="020B0609020204030204" pitchFamily="49" charset="0"/>
              </a:rPr>
              <a:t>if</a:t>
            </a:r>
            <a:r>
              <a:rPr lang="es-AR" sz="1100" dirty="0">
                <a:latin typeface="Consolas" panose="020B0609020204030204" pitchFamily="49" charset="0"/>
              </a:rPr>
              <a:t> true == True and </a:t>
            </a:r>
            <a:r>
              <a:rPr lang="es-AR" sz="1100" dirty="0" err="1">
                <a:latin typeface="Consolas" panose="020B0609020204030204" pitchFamily="49" charset="0"/>
              </a:rPr>
              <a:t>pred</a:t>
            </a:r>
            <a:r>
              <a:rPr lang="es-AR" sz="1100" dirty="0">
                <a:latin typeface="Consolas" panose="020B0609020204030204" pitchFamily="49" charset="0"/>
              </a:rPr>
              <a:t> == True: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        TP += 1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    </a:t>
            </a:r>
            <a:r>
              <a:rPr lang="es-AR" sz="1100" dirty="0" err="1">
                <a:latin typeface="Consolas" panose="020B0609020204030204" pitchFamily="49" charset="0"/>
              </a:rPr>
              <a:t>elif</a:t>
            </a:r>
            <a:r>
              <a:rPr lang="es-AR" sz="1100" dirty="0">
                <a:latin typeface="Consolas" panose="020B0609020204030204" pitchFamily="49" charset="0"/>
              </a:rPr>
              <a:t> true == False and </a:t>
            </a:r>
            <a:r>
              <a:rPr lang="es-AR" sz="1100" dirty="0" err="1">
                <a:latin typeface="Consolas" panose="020B0609020204030204" pitchFamily="49" charset="0"/>
              </a:rPr>
              <a:t>pred</a:t>
            </a:r>
            <a:r>
              <a:rPr lang="es-AR" sz="1100" dirty="0">
                <a:latin typeface="Consolas" panose="020B0609020204030204" pitchFamily="49" charset="0"/>
              </a:rPr>
              <a:t> == True: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        FP += 1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    </a:t>
            </a:r>
            <a:r>
              <a:rPr lang="es-AR" sz="1100" dirty="0" err="1">
                <a:latin typeface="Consolas" panose="020B0609020204030204" pitchFamily="49" charset="0"/>
              </a:rPr>
              <a:t>elif</a:t>
            </a:r>
            <a:r>
              <a:rPr lang="es-AR" sz="1100" dirty="0">
                <a:latin typeface="Consolas" panose="020B0609020204030204" pitchFamily="49" charset="0"/>
              </a:rPr>
              <a:t> true == True and </a:t>
            </a:r>
            <a:r>
              <a:rPr lang="es-AR" sz="1100" dirty="0" err="1">
                <a:latin typeface="Consolas" panose="020B0609020204030204" pitchFamily="49" charset="0"/>
              </a:rPr>
              <a:t>pred</a:t>
            </a:r>
            <a:r>
              <a:rPr lang="es-AR" sz="1100" dirty="0">
                <a:latin typeface="Consolas" panose="020B0609020204030204" pitchFamily="49" charset="0"/>
              </a:rPr>
              <a:t> == False: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        FN += 1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    </a:t>
            </a:r>
            <a:r>
              <a:rPr lang="es-AR" sz="1100" dirty="0" err="1">
                <a:latin typeface="Consolas" panose="020B0609020204030204" pitchFamily="49" charset="0"/>
              </a:rPr>
              <a:t>elif</a:t>
            </a:r>
            <a:r>
              <a:rPr lang="es-AR" sz="1100" dirty="0">
                <a:latin typeface="Consolas" panose="020B0609020204030204" pitchFamily="49" charset="0"/>
              </a:rPr>
              <a:t> true == False and </a:t>
            </a:r>
            <a:r>
              <a:rPr lang="es-AR" sz="1100" dirty="0" err="1">
                <a:latin typeface="Consolas" panose="020B0609020204030204" pitchFamily="49" charset="0"/>
              </a:rPr>
              <a:t>pred</a:t>
            </a:r>
            <a:r>
              <a:rPr lang="es-AR" sz="1100" dirty="0">
                <a:latin typeface="Consolas" panose="020B0609020204030204" pitchFamily="49" charset="0"/>
              </a:rPr>
              <a:t> == False: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        TN += 1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return</a:t>
            </a:r>
            <a:r>
              <a:rPr lang="es-AR" sz="1100" dirty="0">
                <a:latin typeface="Consolas" panose="020B0609020204030204" pitchFamily="49" charset="0"/>
              </a:rPr>
              <a:t> {'TP': TP, 'FP': FP, 'TN': TN, 'FN': FN}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def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accuracy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y_true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y_pred</a:t>
            </a:r>
            <a:r>
              <a:rPr lang="es-AR" sz="1100" dirty="0">
                <a:latin typeface="Consolas" panose="020B0609020204030204" pitchFamily="49" charset="0"/>
              </a:rPr>
              <a:t>)-&gt; </a:t>
            </a:r>
            <a:r>
              <a:rPr lang="es-AR" sz="1100" dirty="0" err="1">
                <a:latin typeface="Consolas" panose="020B0609020204030204" pitchFamily="49" charset="0"/>
              </a:rPr>
              <a:t>float</a:t>
            </a:r>
            <a:r>
              <a:rPr lang="es-AR" sz="1100" dirty="0">
                <a:latin typeface="Consolas" panose="020B0609020204030204" pitchFamily="49" charset="0"/>
              </a:rPr>
              <a:t>: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mc</a:t>
            </a:r>
            <a:r>
              <a:rPr lang="es-AR" sz="1100" dirty="0">
                <a:latin typeface="Consolas" panose="020B0609020204030204" pitchFamily="49" charset="0"/>
              </a:rPr>
              <a:t> = </a:t>
            </a:r>
            <a:r>
              <a:rPr lang="es-AR" sz="1100" dirty="0" err="1">
                <a:latin typeface="Consolas" panose="020B0609020204030204" pitchFamily="49" charset="0"/>
              </a:rPr>
              <a:t>matriz_confusion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y_true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y_pred</a:t>
            </a:r>
            <a:r>
              <a:rPr lang="es-AR" sz="1100" dirty="0">
                <a:latin typeface="Consolas" panose="020B0609020204030204" pitchFamily="49" charset="0"/>
              </a:rPr>
              <a:t>)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total = </a:t>
            </a:r>
            <a:r>
              <a:rPr lang="es-AR" sz="1100" dirty="0" err="1">
                <a:latin typeface="Consolas" panose="020B0609020204030204" pitchFamily="49" charset="0"/>
              </a:rPr>
              <a:t>mc</a:t>
            </a:r>
            <a:r>
              <a:rPr lang="es-AR" sz="1100" dirty="0">
                <a:latin typeface="Consolas" panose="020B0609020204030204" pitchFamily="49" charset="0"/>
              </a:rPr>
              <a:t>['TP'] + </a:t>
            </a:r>
            <a:r>
              <a:rPr lang="es-AR" sz="1100" dirty="0" err="1">
                <a:latin typeface="Consolas" panose="020B0609020204030204" pitchFamily="49" charset="0"/>
              </a:rPr>
              <a:t>mc</a:t>
            </a:r>
            <a:r>
              <a:rPr lang="es-AR" sz="1100" dirty="0">
                <a:latin typeface="Consolas" panose="020B0609020204030204" pitchFamily="49" charset="0"/>
              </a:rPr>
              <a:t>['FP'] + </a:t>
            </a:r>
            <a:r>
              <a:rPr lang="es-AR" sz="1100" dirty="0" err="1">
                <a:latin typeface="Consolas" panose="020B0609020204030204" pitchFamily="49" charset="0"/>
              </a:rPr>
              <a:t>mc</a:t>
            </a:r>
            <a:r>
              <a:rPr lang="es-AR" sz="1100" dirty="0">
                <a:latin typeface="Consolas" panose="020B0609020204030204" pitchFamily="49" charset="0"/>
              </a:rPr>
              <a:t>['TN'] + </a:t>
            </a:r>
            <a:r>
              <a:rPr lang="es-AR" sz="1100" dirty="0" err="1">
                <a:latin typeface="Consolas" panose="020B0609020204030204" pitchFamily="49" charset="0"/>
              </a:rPr>
              <a:t>mc</a:t>
            </a:r>
            <a:r>
              <a:rPr lang="es-AR" sz="1100" dirty="0">
                <a:latin typeface="Consolas" panose="020B0609020204030204" pitchFamily="49" charset="0"/>
              </a:rPr>
              <a:t>['FN']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return</a:t>
            </a:r>
            <a:r>
              <a:rPr lang="es-AR" sz="1100" dirty="0">
                <a:latin typeface="Consolas" panose="020B0609020204030204" pitchFamily="49" charset="0"/>
              </a:rPr>
              <a:t> (</a:t>
            </a:r>
            <a:r>
              <a:rPr lang="es-AR" sz="1100" dirty="0" err="1">
                <a:latin typeface="Consolas" panose="020B0609020204030204" pitchFamily="49" charset="0"/>
              </a:rPr>
              <a:t>mc</a:t>
            </a:r>
            <a:r>
              <a:rPr lang="es-AR" sz="1100" dirty="0">
                <a:latin typeface="Consolas" panose="020B0609020204030204" pitchFamily="49" charset="0"/>
              </a:rPr>
              <a:t>['TP'] + </a:t>
            </a:r>
            <a:r>
              <a:rPr lang="es-AR" sz="1100" dirty="0" err="1">
                <a:latin typeface="Consolas" panose="020B0609020204030204" pitchFamily="49" charset="0"/>
              </a:rPr>
              <a:t>mc</a:t>
            </a:r>
            <a:r>
              <a:rPr lang="es-AR" sz="1100" dirty="0">
                <a:latin typeface="Consolas" panose="020B0609020204030204" pitchFamily="49" charset="0"/>
              </a:rPr>
              <a:t>['TN']) / total </a:t>
            </a:r>
            <a:r>
              <a:rPr lang="es-AR" sz="1100" dirty="0" err="1">
                <a:latin typeface="Consolas" panose="020B0609020204030204" pitchFamily="49" charset="0"/>
              </a:rPr>
              <a:t>if</a:t>
            </a:r>
            <a:r>
              <a:rPr lang="es-AR" sz="1100" dirty="0">
                <a:latin typeface="Consolas" panose="020B0609020204030204" pitchFamily="49" charset="0"/>
              </a:rPr>
              <a:t> total &gt; 0 </a:t>
            </a:r>
            <a:r>
              <a:rPr lang="es-AR" sz="1100" dirty="0" err="1">
                <a:latin typeface="Consolas" panose="020B0609020204030204" pitchFamily="49" charset="0"/>
              </a:rPr>
              <a:t>else</a:t>
            </a:r>
            <a:r>
              <a:rPr lang="es-AR" sz="1100" dirty="0">
                <a:latin typeface="Consolas" panose="020B0609020204030204" pitchFamily="49" charset="0"/>
              </a:rPr>
              <a:t> 0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def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precision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y_true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y_pred</a:t>
            </a:r>
            <a:r>
              <a:rPr lang="es-AR" sz="1100" dirty="0">
                <a:latin typeface="Consolas" panose="020B0609020204030204" pitchFamily="49" charset="0"/>
              </a:rPr>
              <a:t>)-&gt; </a:t>
            </a:r>
            <a:r>
              <a:rPr lang="es-AR" sz="1100" dirty="0" err="1">
                <a:latin typeface="Consolas" panose="020B0609020204030204" pitchFamily="49" charset="0"/>
              </a:rPr>
              <a:t>float</a:t>
            </a:r>
            <a:r>
              <a:rPr lang="es-AR" sz="1100" dirty="0">
                <a:latin typeface="Consolas" panose="020B0609020204030204" pitchFamily="49" charset="0"/>
              </a:rPr>
              <a:t>   :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mc</a:t>
            </a:r>
            <a:r>
              <a:rPr lang="es-AR" sz="1100" dirty="0">
                <a:latin typeface="Consolas" panose="020B0609020204030204" pitchFamily="49" charset="0"/>
              </a:rPr>
              <a:t> = </a:t>
            </a:r>
            <a:r>
              <a:rPr lang="es-AR" sz="1100" dirty="0" err="1">
                <a:latin typeface="Consolas" panose="020B0609020204030204" pitchFamily="49" charset="0"/>
              </a:rPr>
              <a:t>matriz_confusion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y_true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y_pred</a:t>
            </a:r>
            <a:r>
              <a:rPr lang="es-AR" sz="1100" dirty="0">
                <a:latin typeface="Consolas" panose="020B0609020204030204" pitchFamily="49" charset="0"/>
              </a:rPr>
              <a:t>)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return</a:t>
            </a:r>
            <a:r>
              <a:rPr lang="es-AR" sz="1100" dirty="0">
                <a:latin typeface="Consolas" panose="020B0609020204030204" pitchFamily="49" charset="0"/>
              </a:rPr>
              <a:t> </a:t>
            </a:r>
            <a:r>
              <a:rPr lang="es-AR" sz="1100" dirty="0" err="1">
                <a:latin typeface="Consolas" panose="020B0609020204030204" pitchFamily="49" charset="0"/>
              </a:rPr>
              <a:t>mc</a:t>
            </a:r>
            <a:r>
              <a:rPr lang="es-AR" sz="1100" dirty="0">
                <a:latin typeface="Consolas" panose="020B0609020204030204" pitchFamily="49" charset="0"/>
              </a:rPr>
              <a:t>['TP'] / (</a:t>
            </a:r>
            <a:r>
              <a:rPr lang="es-AR" sz="1100" dirty="0" err="1">
                <a:latin typeface="Consolas" panose="020B0609020204030204" pitchFamily="49" charset="0"/>
              </a:rPr>
              <a:t>mc</a:t>
            </a:r>
            <a:r>
              <a:rPr lang="es-AR" sz="1100" dirty="0">
                <a:latin typeface="Consolas" panose="020B0609020204030204" pitchFamily="49" charset="0"/>
              </a:rPr>
              <a:t>['TP'] + </a:t>
            </a:r>
            <a:r>
              <a:rPr lang="es-AR" sz="1100" dirty="0" err="1">
                <a:latin typeface="Consolas" panose="020B0609020204030204" pitchFamily="49" charset="0"/>
              </a:rPr>
              <a:t>mc</a:t>
            </a:r>
            <a:r>
              <a:rPr lang="es-AR" sz="1100" dirty="0">
                <a:latin typeface="Consolas" panose="020B0609020204030204" pitchFamily="49" charset="0"/>
              </a:rPr>
              <a:t>['FP']) </a:t>
            </a:r>
            <a:r>
              <a:rPr lang="es-AR" sz="1100" dirty="0" err="1">
                <a:latin typeface="Consolas" panose="020B0609020204030204" pitchFamily="49" charset="0"/>
              </a:rPr>
              <a:t>if</a:t>
            </a:r>
            <a:r>
              <a:rPr lang="es-AR" sz="1100" dirty="0">
                <a:latin typeface="Consolas" panose="020B0609020204030204" pitchFamily="49" charset="0"/>
              </a:rPr>
              <a:t> (</a:t>
            </a:r>
            <a:r>
              <a:rPr lang="es-AR" sz="1100" dirty="0" err="1">
                <a:latin typeface="Consolas" panose="020B0609020204030204" pitchFamily="49" charset="0"/>
              </a:rPr>
              <a:t>mc</a:t>
            </a:r>
            <a:r>
              <a:rPr lang="es-AR" sz="1100" dirty="0">
                <a:latin typeface="Consolas" panose="020B0609020204030204" pitchFamily="49" charset="0"/>
              </a:rPr>
              <a:t>['TP'] + </a:t>
            </a:r>
            <a:r>
              <a:rPr lang="es-AR" sz="1100" dirty="0" err="1">
                <a:latin typeface="Consolas" panose="020B0609020204030204" pitchFamily="49" charset="0"/>
              </a:rPr>
              <a:t>mc</a:t>
            </a:r>
            <a:r>
              <a:rPr lang="es-AR" sz="1100" dirty="0">
                <a:latin typeface="Consolas" panose="020B0609020204030204" pitchFamily="49" charset="0"/>
              </a:rPr>
              <a:t>['FP']) &gt; 0 </a:t>
            </a:r>
            <a:r>
              <a:rPr lang="es-AR" sz="1100" dirty="0" err="1">
                <a:latin typeface="Consolas" panose="020B0609020204030204" pitchFamily="49" charset="0"/>
              </a:rPr>
              <a:t>else</a:t>
            </a:r>
            <a:r>
              <a:rPr lang="es-AR" sz="1100" dirty="0">
                <a:latin typeface="Consolas" panose="020B0609020204030204" pitchFamily="49" charset="0"/>
              </a:rPr>
              <a:t> 0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def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recall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y_true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y_pred</a:t>
            </a:r>
            <a:r>
              <a:rPr lang="es-AR" sz="1100" dirty="0">
                <a:latin typeface="Consolas" panose="020B0609020204030204" pitchFamily="49" charset="0"/>
              </a:rPr>
              <a:t>)-&gt; </a:t>
            </a:r>
            <a:r>
              <a:rPr lang="es-AR" sz="1100" dirty="0" err="1">
                <a:latin typeface="Consolas" panose="020B0609020204030204" pitchFamily="49" charset="0"/>
              </a:rPr>
              <a:t>float</a:t>
            </a:r>
            <a:r>
              <a:rPr lang="es-AR" sz="1100" dirty="0">
                <a:latin typeface="Consolas" panose="020B0609020204030204" pitchFamily="49" charset="0"/>
              </a:rPr>
              <a:t>: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mc</a:t>
            </a:r>
            <a:r>
              <a:rPr lang="es-AR" sz="1100" dirty="0">
                <a:latin typeface="Consolas" panose="020B0609020204030204" pitchFamily="49" charset="0"/>
              </a:rPr>
              <a:t> = </a:t>
            </a:r>
            <a:r>
              <a:rPr lang="es-AR" sz="1100" dirty="0" err="1">
                <a:latin typeface="Consolas" panose="020B0609020204030204" pitchFamily="49" charset="0"/>
              </a:rPr>
              <a:t>matriz_confusion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y_true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y_pred</a:t>
            </a:r>
            <a:r>
              <a:rPr lang="es-AR" sz="1100" dirty="0">
                <a:latin typeface="Consolas" panose="020B0609020204030204" pitchFamily="49" charset="0"/>
              </a:rPr>
              <a:t>)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return</a:t>
            </a:r>
            <a:r>
              <a:rPr lang="es-AR" sz="1100" dirty="0">
                <a:latin typeface="Consolas" panose="020B0609020204030204" pitchFamily="49" charset="0"/>
              </a:rPr>
              <a:t> </a:t>
            </a:r>
            <a:r>
              <a:rPr lang="es-AR" sz="1100" dirty="0" err="1">
                <a:latin typeface="Consolas" panose="020B0609020204030204" pitchFamily="49" charset="0"/>
              </a:rPr>
              <a:t>mc</a:t>
            </a:r>
            <a:r>
              <a:rPr lang="es-AR" sz="1100" dirty="0">
                <a:latin typeface="Consolas" panose="020B0609020204030204" pitchFamily="49" charset="0"/>
              </a:rPr>
              <a:t>['TP'] / (</a:t>
            </a:r>
            <a:r>
              <a:rPr lang="es-AR" sz="1100" dirty="0" err="1">
                <a:latin typeface="Consolas" panose="020B0609020204030204" pitchFamily="49" charset="0"/>
              </a:rPr>
              <a:t>mc</a:t>
            </a:r>
            <a:r>
              <a:rPr lang="es-AR" sz="1100" dirty="0">
                <a:latin typeface="Consolas" panose="020B0609020204030204" pitchFamily="49" charset="0"/>
              </a:rPr>
              <a:t>['TP'] + </a:t>
            </a:r>
            <a:r>
              <a:rPr lang="es-AR" sz="1100" dirty="0" err="1">
                <a:latin typeface="Consolas" panose="020B0609020204030204" pitchFamily="49" charset="0"/>
              </a:rPr>
              <a:t>mc</a:t>
            </a:r>
            <a:r>
              <a:rPr lang="es-AR" sz="1100" dirty="0">
                <a:latin typeface="Consolas" panose="020B0609020204030204" pitchFamily="49" charset="0"/>
              </a:rPr>
              <a:t>['FN']) </a:t>
            </a:r>
            <a:r>
              <a:rPr lang="es-AR" sz="1100" dirty="0" err="1">
                <a:latin typeface="Consolas" panose="020B0609020204030204" pitchFamily="49" charset="0"/>
              </a:rPr>
              <a:t>if</a:t>
            </a:r>
            <a:r>
              <a:rPr lang="es-AR" sz="1100" dirty="0">
                <a:latin typeface="Consolas" panose="020B0609020204030204" pitchFamily="49" charset="0"/>
              </a:rPr>
              <a:t> (</a:t>
            </a:r>
            <a:r>
              <a:rPr lang="es-AR" sz="1100" dirty="0" err="1">
                <a:latin typeface="Consolas" panose="020B0609020204030204" pitchFamily="49" charset="0"/>
              </a:rPr>
              <a:t>mc</a:t>
            </a:r>
            <a:r>
              <a:rPr lang="es-AR" sz="1100" dirty="0">
                <a:latin typeface="Consolas" panose="020B0609020204030204" pitchFamily="49" charset="0"/>
              </a:rPr>
              <a:t>['TP'] + </a:t>
            </a:r>
            <a:r>
              <a:rPr lang="es-AR" sz="1100" dirty="0" err="1">
                <a:latin typeface="Consolas" panose="020B0609020204030204" pitchFamily="49" charset="0"/>
              </a:rPr>
              <a:t>mc</a:t>
            </a:r>
            <a:r>
              <a:rPr lang="es-AR" sz="1100" dirty="0">
                <a:latin typeface="Consolas" panose="020B0609020204030204" pitchFamily="49" charset="0"/>
              </a:rPr>
              <a:t>['FN']) &gt; 0 </a:t>
            </a:r>
            <a:r>
              <a:rPr lang="es-AR" sz="1100" dirty="0" err="1">
                <a:latin typeface="Consolas" panose="020B0609020204030204" pitchFamily="49" charset="0"/>
              </a:rPr>
              <a:t>else</a:t>
            </a:r>
            <a:r>
              <a:rPr lang="es-AR" sz="1100" dirty="0">
                <a:latin typeface="Consolas" panose="020B0609020204030204" pitchFamily="49" charset="0"/>
              </a:rPr>
              <a:t> 0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def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f1_score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y_true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y_pred</a:t>
            </a:r>
            <a:r>
              <a:rPr lang="es-AR" sz="1100" dirty="0">
                <a:latin typeface="Consolas" panose="020B0609020204030204" pitchFamily="49" charset="0"/>
              </a:rPr>
              <a:t>)-&gt; </a:t>
            </a:r>
            <a:r>
              <a:rPr lang="es-AR" sz="1100" dirty="0" err="1">
                <a:latin typeface="Consolas" panose="020B0609020204030204" pitchFamily="49" charset="0"/>
              </a:rPr>
              <a:t>float</a:t>
            </a:r>
            <a:r>
              <a:rPr lang="es-AR" sz="1100" dirty="0">
                <a:latin typeface="Consolas" panose="020B0609020204030204" pitchFamily="49" charset="0"/>
              </a:rPr>
              <a:t>: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prec</a:t>
            </a:r>
            <a:r>
              <a:rPr lang="es-AR" sz="1100" dirty="0">
                <a:latin typeface="Consolas" panose="020B0609020204030204" pitchFamily="49" charset="0"/>
              </a:rPr>
              <a:t> = </a:t>
            </a:r>
            <a:r>
              <a:rPr lang="es-AR" sz="1100" dirty="0" err="1">
                <a:latin typeface="Consolas" panose="020B0609020204030204" pitchFamily="49" charset="0"/>
              </a:rPr>
              <a:t>precision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y_true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y_pred</a:t>
            </a:r>
            <a:r>
              <a:rPr lang="es-AR" sz="1100" dirty="0">
                <a:latin typeface="Consolas" panose="020B0609020204030204" pitchFamily="49" charset="0"/>
              </a:rPr>
              <a:t>)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rec</a:t>
            </a:r>
            <a:r>
              <a:rPr lang="es-AR" sz="1100" dirty="0">
                <a:latin typeface="Consolas" panose="020B0609020204030204" pitchFamily="49" charset="0"/>
              </a:rPr>
              <a:t> = </a:t>
            </a:r>
            <a:r>
              <a:rPr lang="es-AR" sz="1100" dirty="0" err="1">
                <a:latin typeface="Consolas" panose="020B0609020204030204" pitchFamily="49" charset="0"/>
              </a:rPr>
              <a:t>recall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y_true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y_pred</a:t>
            </a:r>
            <a:r>
              <a:rPr lang="es-AR" sz="1100" dirty="0">
                <a:latin typeface="Consolas" panose="020B0609020204030204" pitchFamily="49" charset="0"/>
              </a:rPr>
              <a:t>)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latin typeface="Consolas" panose="020B0609020204030204" pitchFamily="49" charset="0"/>
              </a:rPr>
              <a:t>return</a:t>
            </a:r>
            <a:r>
              <a:rPr lang="es-AR" sz="1100" dirty="0">
                <a:latin typeface="Consolas" panose="020B0609020204030204" pitchFamily="49" charset="0"/>
              </a:rPr>
              <a:t> 2 * (</a:t>
            </a:r>
            <a:r>
              <a:rPr lang="es-AR" sz="1100" dirty="0" err="1">
                <a:latin typeface="Consolas" panose="020B0609020204030204" pitchFamily="49" charset="0"/>
              </a:rPr>
              <a:t>prec</a:t>
            </a:r>
            <a:r>
              <a:rPr lang="es-AR" sz="1100" dirty="0">
                <a:latin typeface="Consolas" panose="020B0609020204030204" pitchFamily="49" charset="0"/>
              </a:rPr>
              <a:t> * </a:t>
            </a:r>
            <a:r>
              <a:rPr lang="es-AR" sz="1100" dirty="0" err="1">
                <a:latin typeface="Consolas" panose="020B0609020204030204" pitchFamily="49" charset="0"/>
              </a:rPr>
              <a:t>rec</a:t>
            </a:r>
            <a:r>
              <a:rPr lang="es-AR" sz="1100" dirty="0">
                <a:latin typeface="Consolas" panose="020B0609020204030204" pitchFamily="49" charset="0"/>
              </a:rPr>
              <a:t>) / (</a:t>
            </a:r>
            <a:r>
              <a:rPr lang="es-AR" sz="1100" dirty="0" err="1">
                <a:latin typeface="Consolas" panose="020B0609020204030204" pitchFamily="49" charset="0"/>
              </a:rPr>
              <a:t>prec</a:t>
            </a:r>
            <a:r>
              <a:rPr lang="es-AR" sz="1100" dirty="0">
                <a:latin typeface="Consolas" panose="020B0609020204030204" pitchFamily="49" charset="0"/>
              </a:rPr>
              <a:t> + </a:t>
            </a:r>
            <a:r>
              <a:rPr lang="es-AR" sz="1100" dirty="0" err="1">
                <a:latin typeface="Consolas" panose="020B0609020204030204" pitchFamily="49" charset="0"/>
              </a:rPr>
              <a:t>rec</a:t>
            </a:r>
            <a:r>
              <a:rPr lang="es-AR" sz="1100" dirty="0">
                <a:latin typeface="Consolas" panose="020B0609020204030204" pitchFamily="49" charset="0"/>
              </a:rPr>
              <a:t>) </a:t>
            </a:r>
            <a:r>
              <a:rPr lang="es-AR" sz="1100" dirty="0" err="1">
                <a:latin typeface="Consolas" panose="020B0609020204030204" pitchFamily="49" charset="0"/>
              </a:rPr>
              <a:t>if</a:t>
            </a:r>
            <a:r>
              <a:rPr lang="es-AR" sz="1100" dirty="0">
                <a:latin typeface="Consolas" panose="020B0609020204030204" pitchFamily="49" charset="0"/>
              </a:rPr>
              <a:t> (</a:t>
            </a:r>
            <a:r>
              <a:rPr lang="es-AR" sz="1100" dirty="0" err="1">
                <a:latin typeface="Consolas" panose="020B0609020204030204" pitchFamily="49" charset="0"/>
              </a:rPr>
              <a:t>prec</a:t>
            </a:r>
            <a:r>
              <a:rPr lang="es-AR" sz="1100" dirty="0">
                <a:latin typeface="Consolas" panose="020B0609020204030204" pitchFamily="49" charset="0"/>
              </a:rPr>
              <a:t> + </a:t>
            </a:r>
            <a:r>
              <a:rPr lang="es-AR" sz="1100" dirty="0" err="1">
                <a:latin typeface="Consolas" panose="020B0609020204030204" pitchFamily="49" charset="0"/>
              </a:rPr>
              <a:t>rec</a:t>
            </a:r>
            <a:r>
              <a:rPr lang="es-AR" sz="1100" dirty="0">
                <a:latin typeface="Consolas" panose="020B0609020204030204" pitchFamily="49" charset="0"/>
              </a:rPr>
              <a:t>) &gt; 0 </a:t>
            </a:r>
            <a:r>
              <a:rPr lang="es-AR" sz="1100" dirty="0" err="1">
                <a:latin typeface="Consolas" panose="020B0609020204030204" pitchFamily="49" charset="0"/>
              </a:rPr>
              <a:t>else</a:t>
            </a:r>
            <a:r>
              <a:rPr lang="es-AR" sz="1100" dirty="0">
                <a:latin typeface="Consolas" panose="020B0609020204030204" pitchFamily="49" charset="0"/>
              </a:rPr>
              <a:t> 0</a:t>
            </a:r>
          </a:p>
          <a:p>
            <a:pPr>
              <a:defRPr sz="1000">
                <a:solidFill>
                  <a:srgbClr val="D4D4D4"/>
                </a:solidFill>
                <a:latin typeface="Consolas"/>
              </a:defRPr>
            </a:pP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5A1570-E1D7-1610-FA73-DE5BFDBB35EA}"/>
              </a:ext>
            </a:extLst>
          </p:cNvPr>
          <p:cNvSpPr/>
          <p:nvPr/>
        </p:nvSpPr>
        <p:spPr>
          <a:xfrm>
            <a:off x="9905695" y="182880"/>
            <a:ext cx="2286000" cy="365760"/>
          </a:xfrm>
          <a:prstGeom prst="round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lang="es-MX" dirty="0"/>
              <a:t>Herramientas.py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6170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36FF54-D664-57D5-81CE-58BF12122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04E619-F93C-5A28-E5D3-3E85E6234392}"/>
              </a:ext>
            </a:extLst>
          </p:cNvPr>
          <p:cNvSpPr/>
          <p:nvPr/>
        </p:nvSpPr>
        <p:spPr>
          <a:xfrm>
            <a:off x="11704320" y="6400800"/>
            <a:ext cx="487375" cy="457200"/>
          </a:xfrm>
          <a:prstGeom prst="rect">
            <a:avLst/>
          </a:prstGeom>
          <a:solidFill>
            <a:srgbClr val="BEB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5F1960-F3C4-868F-58FA-2F420897EC9A}"/>
              </a:ext>
            </a:extLst>
          </p:cNvPr>
          <p:cNvSpPr/>
          <p:nvPr/>
        </p:nvSpPr>
        <p:spPr>
          <a:xfrm>
            <a:off x="11430000" y="6583680"/>
            <a:ext cx="761695" cy="274320"/>
          </a:xfrm>
          <a:prstGeom prst="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5C2521-E2B6-46C5-D33D-38E12E3F78B0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8B0A9054-33FE-6F42-D336-1D1E2120873E}"/>
              </a:ext>
            </a:extLst>
          </p:cNvPr>
          <p:cNvSpPr/>
          <p:nvPr/>
        </p:nvSpPr>
        <p:spPr>
          <a:xfrm>
            <a:off x="2649985" y="736847"/>
            <a:ext cx="6076765" cy="5752729"/>
          </a:xfrm>
          <a:prstGeom prst="rect">
            <a:avLst/>
          </a:prstGeom>
          <a:solidFill>
            <a:srgbClr val="1E1E1E"/>
          </a:solidFill>
          <a:ln w="127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def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regresion_lineal_multiple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(X, y) -&gt;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np.ndarray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   X =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np.asarray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(X,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dtype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float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   y =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np.asarray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(y,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dtype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float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endParaRPr lang="es-AR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   unos =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np.ones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((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X.shape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[0], 1))</a:t>
            </a:r>
          </a:p>
          <a:p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X_ext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np.hstack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([unos, X])</a:t>
            </a:r>
          </a:p>
          <a:p>
            <a:endParaRPr lang="es-AR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   beta =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np.linalg.inv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X_ext.T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@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X_ext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) @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X_ext.T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@ y</a:t>
            </a:r>
          </a:p>
          <a:p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beta</a:t>
            </a:r>
          </a:p>
          <a:p>
            <a:endParaRPr lang="es-AR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def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predecir_regresion_lineal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(beta, X) -&gt;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np.ndarray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   X =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np.asarray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(X,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dtype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float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   unos =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np.ones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((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X.shape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[0], 1))</a:t>
            </a:r>
          </a:p>
          <a:p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X_ext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=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np.hstack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([unos, X])</a:t>
            </a:r>
          </a:p>
          <a:p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X_ext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@ beta</a:t>
            </a:r>
          </a:p>
          <a:p>
            <a:endParaRPr lang="es-AR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def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entrenar_svm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X_train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y_train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kernel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="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rbf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", C=1.0) -&gt; SVC:</a:t>
            </a:r>
          </a:p>
          <a:p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   modelo = SVC(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kernel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kernel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, C=C)</a:t>
            </a:r>
          </a:p>
          <a:p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modelo.fit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X_train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,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y_train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s-AR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es-AR" sz="1100" dirty="0">
                <a:solidFill>
                  <a:schemeClr val="bg1"/>
                </a:solidFill>
                <a:latin typeface="Consolas" panose="020B0609020204030204" pitchFamily="49" charset="0"/>
              </a:rPr>
              <a:t> modelo    }</a:t>
            </a:r>
          </a:p>
          <a:p>
            <a:endParaRPr lang="es-AR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ea typeface="Calibri"/>
                <a:cs typeface="Calibri"/>
              </a:rPr>
              <a:t>def</a:t>
            </a:r>
            <a:r>
              <a:rPr lang="es-AR" sz="1100" dirty="0">
                <a:solidFill>
                  <a:srgbClr val="FFFF00"/>
                </a:solidFill>
                <a:ea typeface="Calibri"/>
                <a:cs typeface="Calibri"/>
              </a:rPr>
              <a:t> </a:t>
            </a:r>
            <a:r>
              <a:rPr lang="es-AR" sz="1100" dirty="0" err="1">
                <a:solidFill>
                  <a:srgbClr val="FFFF00"/>
                </a:solidFill>
                <a:ea typeface="Calibri"/>
                <a:cs typeface="Calibri"/>
              </a:rPr>
              <a:t>coeficiente_determinacion</a:t>
            </a:r>
            <a:r>
              <a:rPr lang="es-AR" sz="1100" dirty="0">
                <a:ea typeface="Calibri"/>
                <a:cs typeface="Calibri"/>
              </a:rPr>
              <a:t>(</a:t>
            </a:r>
            <a:r>
              <a:rPr lang="es-AR" sz="1100" dirty="0" err="1">
                <a:ea typeface="Calibri"/>
                <a:cs typeface="Calibri"/>
              </a:rPr>
              <a:t>y_true</a:t>
            </a:r>
            <a:r>
              <a:rPr lang="es-AR" sz="1100" dirty="0">
                <a:ea typeface="Calibri"/>
                <a:cs typeface="Calibri"/>
              </a:rPr>
              <a:t>, </a:t>
            </a:r>
            <a:r>
              <a:rPr lang="es-AR" sz="1100" dirty="0" err="1">
                <a:ea typeface="Calibri"/>
                <a:cs typeface="Calibri"/>
              </a:rPr>
              <a:t>y_pred</a:t>
            </a:r>
            <a:r>
              <a:rPr lang="es-AR" sz="1100" dirty="0">
                <a:ea typeface="Calibri"/>
                <a:cs typeface="Calibri"/>
              </a:rPr>
              <a:t>) -&gt; </a:t>
            </a:r>
            <a:r>
              <a:rPr lang="es-AR" sz="1100" dirty="0" err="1">
                <a:ea typeface="Calibri"/>
                <a:cs typeface="Calibri"/>
              </a:rPr>
              <a:t>float</a:t>
            </a:r>
            <a:r>
              <a:rPr lang="es-AR" sz="1100" dirty="0">
                <a:ea typeface="Calibri"/>
                <a:cs typeface="Calibri"/>
              </a:rPr>
              <a:t>:</a:t>
            </a:r>
            <a:endParaRPr lang="es-AR" sz="1100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s-AR" sz="1100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s-AR" sz="1100" dirty="0">
                <a:ea typeface="Calibri"/>
                <a:cs typeface="Calibri"/>
              </a:rPr>
              <a:t>    </a:t>
            </a:r>
            <a:r>
              <a:rPr lang="es-AR" sz="1100" dirty="0" err="1">
                <a:ea typeface="Calibri"/>
                <a:cs typeface="Calibri"/>
              </a:rPr>
              <a:t>y_true</a:t>
            </a:r>
            <a:r>
              <a:rPr lang="es-AR" sz="1100" dirty="0">
                <a:ea typeface="Calibri"/>
                <a:cs typeface="Calibri"/>
              </a:rPr>
              <a:t> = </a:t>
            </a:r>
            <a:r>
              <a:rPr lang="es-AR" sz="1100" dirty="0" err="1">
                <a:ea typeface="Calibri"/>
                <a:cs typeface="Calibri"/>
              </a:rPr>
              <a:t>np.asarray</a:t>
            </a:r>
            <a:r>
              <a:rPr lang="es-AR" sz="1100" dirty="0">
                <a:ea typeface="Calibri"/>
                <a:cs typeface="Calibri"/>
              </a:rPr>
              <a:t>(</a:t>
            </a:r>
            <a:r>
              <a:rPr lang="es-AR" sz="1100" dirty="0" err="1">
                <a:ea typeface="Calibri"/>
                <a:cs typeface="Calibri"/>
              </a:rPr>
              <a:t>y_true</a:t>
            </a:r>
            <a:r>
              <a:rPr lang="es-AR" sz="1100" dirty="0">
                <a:ea typeface="Calibri"/>
                <a:cs typeface="Calibri"/>
              </a:rPr>
              <a:t>, </a:t>
            </a:r>
            <a:r>
              <a:rPr lang="es-AR" sz="1100" dirty="0" err="1">
                <a:ea typeface="Calibri"/>
                <a:cs typeface="Calibri"/>
              </a:rPr>
              <a:t>dtype</a:t>
            </a:r>
            <a:r>
              <a:rPr lang="es-AR" sz="1100" dirty="0">
                <a:ea typeface="Calibri"/>
                <a:cs typeface="Calibri"/>
              </a:rPr>
              <a:t>=</a:t>
            </a:r>
            <a:r>
              <a:rPr lang="es-AR" sz="1100" dirty="0" err="1">
                <a:ea typeface="Calibri"/>
                <a:cs typeface="Calibri"/>
              </a:rPr>
              <a:t>float</a:t>
            </a:r>
            <a:r>
              <a:rPr lang="es-AR" sz="1100" dirty="0">
                <a:ea typeface="Calibri"/>
                <a:cs typeface="Calibri"/>
              </a:rPr>
              <a:t>)</a:t>
            </a:r>
            <a:endParaRPr lang="es-AR" sz="1100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s-AR" sz="1100" dirty="0">
                <a:ea typeface="Calibri"/>
                <a:cs typeface="Calibri"/>
              </a:rPr>
              <a:t>    </a:t>
            </a:r>
            <a:r>
              <a:rPr lang="es-AR" sz="1100" dirty="0" err="1">
                <a:ea typeface="Calibri"/>
                <a:cs typeface="Calibri"/>
              </a:rPr>
              <a:t>y_pred</a:t>
            </a:r>
            <a:r>
              <a:rPr lang="es-AR" sz="1100" dirty="0">
                <a:ea typeface="Calibri"/>
                <a:cs typeface="Calibri"/>
              </a:rPr>
              <a:t> = </a:t>
            </a:r>
            <a:r>
              <a:rPr lang="es-AR" sz="1100" dirty="0" err="1">
                <a:ea typeface="Calibri"/>
                <a:cs typeface="Calibri"/>
              </a:rPr>
              <a:t>np.asarray</a:t>
            </a:r>
            <a:r>
              <a:rPr lang="es-AR" sz="1100" dirty="0">
                <a:ea typeface="Calibri"/>
                <a:cs typeface="Calibri"/>
              </a:rPr>
              <a:t>(</a:t>
            </a:r>
            <a:r>
              <a:rPr lang="es-AR" sz="1100" dirty="0" err="1">
                <a:ea typeface="Calibri"/>
                <a:cs typeface="Calibri"/>
              </a:rPr>
              <a:t>y_pred</a:t>
            </a:r>
            <a:r>
              <a:rPr lang="es-AR" sz="1100" dirty="0">
                <a:ea typeface="Calibri"/>
                <a:cs typeface="Calibri"/>
              </a:rPr>
              <a:t>, </a:t>
            </a:r>
            <a:r>
              <a:rPr lang="es-AR" sz="1100" dirty="0" err="1">
                <a:ea typeface="Calibri"/>
                <a:cs typeface="Calibri"/>
              </a:rPr>
              <a:t>dtype</a:t>
            </a:r>
            <a:r>
              <a:rPr lang="es-AR" sz="1100" dirty="0">
                <a:ea typeface="Calibri"/>
                <a:cs typeface="Calibri"/>
              </a:rPr>
              <a:t>=</a:t>
            </a:r>
            <a:r>
              <a:rPr lang="es-AR" sz="1100" dirty="0" err="1">
                <a:ea typeface="Calibri"/>
                <a:cs typeface="Calibri"/>
              </a:rPr>
              <a:t>float</a:t>
            </a:r>
            <a:r>
              <a:rPr lang="es-AR" sz="1100" dirty="0">
                <a:ea typeface="Calibri"/>
                <a:cs typeface="Calibri"/>
              </a:rPr>
              <a:t>)</a:t>
            </a:r>
            <a:endParaRPr lang="es-AR" sz="1100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s-AR" sz="1100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s-AR" sz="1100" dirty="0">
                <a:ea typeface="Calibri"/>
                <a:cs typeface="Calibri"/>
              </a:rPr>
              <a:t>    </a:t>
            </a:r>
            <a:r>
              <a:rPr lang="es-AR" sz="1100" dirty="0" err="1">
                <a:ea typeface="Calibri"/>
                <a:cs typeface="Calibri"/>
              </a:rPr>
              <a:t>ss_res</a:t>
            </a:r>
            <a:r>
              <a:rPr lang="es-AR" sz="1100" dirty="0">
                <a:ea typeface="Calibri"/>
                <a:cs typeface="Calibri"/>
              </a:rPr>
              <a:t> = </a:t>
            </a:r>
            <a:r>
              <a:rPr lang="es-AR" sz="1100" dirty="0" err="1">
                <a:ea typeface="Calibri"/>
                <a:cs typeface="Calibri"/>
              </a:rPr>
              <a:t>np.sum</a:t>
            </a:r>
            <a:r>
              <a:rPr lang="es-AR" sz="1100" dirty="0">
                <a:ea typeface="Calibri"/>
                <a:cs typeface="Calibri"/>
              </a:rPr>
              <a:t>((</a:t>
            </a:r>
            <a:r>
              <a:rPr lang="es-AR" sz="1100" dirty="0" err="1">
                <a:ea typeface="Calibri"/>
                <a:cs typeface="Calibri"/>
              </a:rPr>
              <a:t>y_true</a:t>
            </a:r>
            <a:r>
              <a:rPr lang="es-AR" sz="1100" dirty="0">
                <a:ea typeface="Calibri"/>
                <a:cs typeface="Calibri"/>
              </a:rPr>
              <a:t> - </a:t>
            </a:r>
            <a:r>
              <a:rPr lang="es-AR" sz="1100" dirty="0" err="1">
                <a:ea typeface="Calibri"/>
                <a:cs typeface="Calibri"/>
              </a:rPr>
              <a:t>y_pred</a:t>
            </a:r>
            <a:r>
              <a:rPr lang="es-AR" sz="1100" dirty="0">
                <a:ea typeface="Calibri"/>
                <a:cs typeface="Calibri"/>
              </a:rPr>
              <a:t>) ** 2)</a:t>
            </a:r>
            <a:endParaRPr lang="es-AR" sz="1100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s-AR" sz="1100" dirty="0">
                <a:ea typeface="Calibri"/>
                <a:cs typeface="Calibri"/>
              </a:rPr>
              <a:t>    </a:t>
            </a:r>
            <a:r>
              <a:rPr lang="es-AR" sz="1100" dirty="0" err="1">
                <a:ea typeface="Calibri"/>
                <a:cs typeface="Calibri"/>
              </a:rPr>
              <a:t>ss_tot</a:t>
            </a:r>
            <a:r>
              <a:rPr lang="es-AR" sz="1100" dirty="0">
                <a:ea typeface="Calibri"/>
                <a:cs typeface="Calibri"/>
              </a:rPr>
              <a:t> = </a:t>
            </a:r>
            <a:r>
              <a:rPr lang="es-AR" sz="1100" dirty="0" err="1">
                <a:ea typeface="Calibri"/>
                <a:cs typeface="Calibri"/>
              </a:rPr>
              <a:t>np.sum</a:t>
            </a:r>
            <a:r>
              <a:rPr lang="es-AR" sz="1100" dirty="0">
                <a:ea typeface="Calibri"/>
                <a:cs typeface="Calibri"/>
              </a:rPr>
              <a:t>((</a:t>
            </a:r>
            <a:r>
              <a:rPr lang="es-AR" sz="1100" dirty="0" err="1">
                <a:ea typeface="Calibri"/>
                <a:cs typeface="Calibri"/>
              </a:rPr>
              <a:t>y_true</a:t>
            </a:r>
            <a:r>
              <a:rPr lang="es-AR" sz="1100" dirty="0">
                <a:ea typeface="Calibri"/>
                <a:cs typeface="Calibri"/>
              </a:rPr>
              <a:t> - </a:t>
            </a:r>
            <a:r>
              <a:rPr lang="es-AR" sz="1100" dirty="0" err="1">
                <a:ea typeface="Calibri"/>
                <a:cs typeface="Calibri"/>
              </a:rPr>
              <a:t>np.mean</a:t>
            </a:r>
            <a:r>
              <a:rPr lang="es-AR" sz="1100" dirty="0">
                <a:ea typeface="Calibri"/>
                <a:cs typeface="Calibri"/>
              </a:rPr>
              <a:t>(</a:t>
            </a:r>
            <a:r>
              <a:rPr lang="es-AR" sz="1100" dirty="0" err="1">
                <a:ea typeface="Calibri"/>
                <a:cs typeface="Calibri"/>
              </a:rPr>
              <a:t>y_true</a:t>
            </a:r>
            <a:r>
              <a:rPr lang="es-AR" sz="1100" dirty="0">
                <a:ea typeface="Calibri"/>
                <a:cs typeface="Calibri"/>
              </a:rPr>
              <a:t>)) ** 2)</a:t>
            </a:r>
            <a:endParaRPr lang="es-AR" sz="1100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s-AR" sz="1100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s-AR" sz="1100" dirty="0">
                <a:ea typeface="Calibri"/>
                <a:cs typeface="Calibri"/>
              </a:rPr>
              <a:t>    </a:t>
            </a:r>
            <a:r>
              <a:rPr lang="es-AR" sz="1100" dirty="0" err="1">
                <a:ea typeface="Calibri"/>
                <a:cs typeface="Calibri"/>
              </a:rPr>
              <a:t>return</a:t>
            </a:r>
            <a:r>
              <a:rPr lang="es-AR" sz="1100" dirty="0">
                <a:ea typeface="Calibri"/>
                <a:cs typeface="Calibri"/>
              </a:rPr>
              <a:t> 1 - </a:t>
            </a:r>
            <a:r>
              <a:rPr lang="es-AR" sz="1100" dirty="0" err="1">
                <a:ea typeface="Calibri"/>
                <a:cs typeface="Calibri"/>
              </a:rPr>
              <a:t>ss_res</a:t>
            </a:r>
            <a:r>
              <a:rPr lang="es-AR" sz="1100" dirty="0">
                <a:ea typeface="Calibri"/>
                <a:cs typeface="Calibri"/>
              </a:rPr>
              <a:t> / </a:t>
            </a:r>
            <a:r>
              <a:rPr lang="es-AR" sz="1100" dirty="0" err="1">
                <a:ea typeface="Calibri"/>
                <a:cs typeface="Calibri"/>
              </a:rPr>
              <a:t>ss_tot</a:t>
            </a:r>
            <a:r>
              <a:rPr lang="es-AR" sz="1100" dirty="0">
                <a:ea typeface="Calibri"/>
                <a:cs typeface="Calibri"/>
              </a:rPr>
              <a:t> </a:t>
            </a:r>
            <a:r>
              <a:rPr lang="es-AR" sz="1100" dirty="0" err="1">
                <a:ea typeface="Calibri"/>
                <a:cs typeface="Calibri"/>
              </a:rPr>
              <a:t>if</a:t>
            </a:r>
            <a:r>
              <a:rPr lang="es-AR" sz="1100" dirty="0">
                <a:ea typeface="Calibri"/>
                <a:cs typeface="Calibri"/>
              </a:rPr>
              <a:t> </a:t>
            </a:r>
            <a:r>
              <a:rPr lang="es-AR" sz="1100" dirty="0" err="1">
                <a:ea typeface="Calibri"/>
                <a:cs typeface="Calibri"/>
              </a:rPr>
              <a:t>ss_tot</a:t>
            </a:r>
            <a:r>
              <a:rPr lang="es-AR" sz="1100" dirty="0">
                <a:ea typeface="Calibri"/>
                <a:cs typeface="Calibri"/>
              </a:rPr>
              <a:t> &gt; 0 </a:t>
            </a:r>
            <a:r>
              <a:rPr lang="es-AR" sz="1100" dirty="0" err="1">
                <a:ea typeface="Calibri"/>
                <a:cs typeface="Calibri"/>
              </a:rPr>
              <a:t>else</a:t>
            </a:r>
            <a:r>
              <a:rPr lang="es-AR" sz="1100" dirty="0">
                <a:ea typeface="Calibri"/>
                <a:cs typeface="Calibri"/>
              </a:rPr>
              <a:t> 0</a:t>
            </a:r>
            <a:endParaRPr lang="es-AR" sz="1100" dirty="0"/>
          </a:p>
          <a:p>
            <a:endParaRPr lang="es-AR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000">
                <a:solidFill>
                  <a:srgbClr val="D4D4D4"/>
                </a:solidFill>
                <a:latin typeface="Consolas"/>
              </a:defRPr>
            </a:pP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CB6F05-62F1-ECBE-9DCF-64D0A9F844A4}"/>
              </a:ext>
            </a:extLst>
          </p:cNvPr>
          <p:cNvSpPr/>
          <p:nvPr/>
        </p:nvSpPr>
        <p:spPr>
          <a:xfrm>
            <a:off x="9523510" y="256032"/>
            <a:ext cx="2286000" cy="365760"/>
          </a:xfrm>
          <a:prstGeom prst="round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lang="es-MX" dirty="0"/>
              <a:t>Algoritmos.py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5367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04320" y="6400800"/>
            <a:ext cx="487375" cy="457200"/>
          </a:xfrm>
          <a:prstGeom prst="rect">
            <a:avLst/>
          </a:prstGeom>
          <a:solidFill>
            <a:srgbClr val="BEB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430000" y="6583680"/>
            <a:ext cx="761695" cy="274320"/>
          </a:xfrm>
          <a:prstGeom prst="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18320" y="320040"/>
            <a:ext cx="2286000" cy="365760"/>
          </a:xfrm>
          <a:prstGeom prst="round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/>
              <a:t>EJERCICIO 1</a:t>
            </a:r>
            <a:r>
              <a:rPr lang="es-AR" dirty="0"/>
              <a:t>.1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858000" cy="4754880"/>
          </a:xfrm>
          <a:prstGeom prst="rect">
            <a:avLst/>
          </a:prstGeom>
          <a:solidFill>
            <a:srgbClr val="1E1E1E"/>
          </a:solidFill>
          <a:ln w="127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import</a:t>
            </a:r>
            <a:r>
              <a:rPr lang="es-AR" sz="1100" dirty="0">
                <a:latin typeface="Consolas" panose="020B0609020204030204" pitchFamily="49" charset="0"/>
              </a:rPr>
              <a:t> herramientas</a:t>
            </a: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import</a:t>
            </a:r>
            <a:r>
              <a:rPr lang="es-AR" sz="1100" dirty="0">
                <a:latin typeface="Consolas" panose="020B0609020204030204" pitchFamily="49" charset="0"/>
              </a:rPr>
              <a:t> algoritmos as </a:t>
            </a:r>
            <a:r>
              <a:rPr lang="es-AR" sz="1100" dirty="0" err="1">
                <a:latin typeface="Consolas" panose="020B0609020204030204" pitchFamily="49" charset="0"/>
              </a:rPr>
              <a:t>alg</a:t>
            </a:r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import</a:t>
            </a:r>
            <a:r>
              <a:rPr lang="es-AR" sz="1100" dirty="0">
                <a:latin typeface="Consolas" panose="020B0609020204030204" pitchFamily="49" charset="0"/>
              </a:rPr>
              <a:t> </a:t>
            </a:r>
            <a:r>
              <a:rPr lang="es-AR" sz="1100" dirty="0" err="1">
                <a:latin typeface="Consolas" panose="020B0609020204030204" pitchFamily="49" charset="0"/>
              </a:rPr>
              <a:t>numpy</a:t>
            </a:r>
            <a:r>
              <a:rPr lang="es-AR" sz="1100" dirty="0">
                <a:latin typeface="Consolas" panose="020B0609020204030204" pitchFamily="49" charset="0"/>
              </a:rPr>
              <a:t> as </a:t>
            </a:r>
            <a:r>
              <a:rPr lang="es-AR" sz="1100" dirty="0" err="1">
                <a:latin typeface="Consolas" panose="020B0609020204030204" pitchFamily="49" charset="0"/>
              </a:rPr>
              <a:t>np</a:t>
            </a:r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import</a:t>
            </a:r>
            <a:r>
              <a:rPr lang="es-AR" sz="1100" dirty="0">
                <a:latin typeface="Consolas" panose="020B0609020204030204" pitchFamily="49" charset="0"/>
              </a:rPr>
              <a:t> pandas as </a:t>
            </a:r>
            <a:r>
              <a:rPr lang="es-AR" sz="1100" dirty="0" err="1">
                <a:latin typeface="Consolas" panose="020B0609020204030204" pitchFamily="49" charset="0"/>
              </a:rPr>
              <a:t>pd</a:t>
            </a:r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from</a:t>
            </a:r>
            <a:r>
              <a:rPr lang="es-AR" sz="1100" dirty="0">
                <a:latin typeface="Consolas" panose="020B0609020204030204" pitchFamily="49" charset="0"/>
              </a:rPr>
              <a:t> </a:t>
            </a:r>
            <a:r>
              <a:rPr lang="es-AR" sz="1100" dirty="0" err="1">
                <a:latin typeface="Consolas" panose="020B0609020204030204" pitchFamily="49" charset="0"/>
              </a:rPr>
              <a:t>sklearn.linear_model</a:t>
            </a:r>
            <a:r>
              <a:rPr lang="es-AR" sz="1100" dirty="0">
                <a:latin typeface="Consolas" panose="020B0609020204030204" pitchFamily="49" charset="0"/>
              </a:rPr>
              <a:t> </a:t>
            </a:r>
            <a:r>
              <a:rPr lang="es-AR" sz="1100" dirty="0" err="1">
                <a:latin typeface="Consolas" panose="020B0609020204030204" pitchFamily="49" charset="0"/>
              </a:rPr>
              <a:t>import</a:t>
            </a:r>
            <a:r>
              <a:rPr lang="es-AR" sz="1100" dirty="0">
                <a:latin typeface="Consolas" panose="020B0609020204030204" pitchFamily="49" charset="0"/>
              </a:rPr>
              <a:t> </a:t>
            </a:r>
            <a:r>
              <a:rPr lang="es-AR" sz="1100" dirty="0" err="1">
                <a:latin typeface="Consolas" panose="020B0609020204030204" pitchFamily="49" charset="0"/>
              </a:rPr>
              <a:t>LogisticRegression</a:t>
            </a:r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from</a:t>
            </a:r>
            <a:r>
              <a:rPr lang="es-AR" sz="1100" dirty="0">
                <a:latin typeface="Consolas" panose="020B0609020204030204" pitchFamily="49" charset="0"/>
              </a:rPr>
              <a:t> </a:t>
            </a:r>
            <a:r>
              <a:rPr lang="es-AR" sz="1100" dirty="0" err="1">
                <a:latin typeface="Consolas" panose="020B0609020204030204" pitchFamily="49" charset="0"/>
              </a:rPr>
              <a:t>itertools</a:t>
            </a:r>
            <a:r>
              <a:rPr lang="es-AR" sz="1100" dirty="0">
                <a:latin typeface="Consolas" panose="020B0609020204030204" pitchFamily="49" charset="0"/>
              </a:rPr>
              <a:t> </a:t>
            </a:r>
            <a:r>
              <a:rPr lang="es-AR" sz="1100" dirty="0" err="1">
                <a:latin typeface="Consolas" panose="020B0609020204030204" pitchFamily="49" charset="0"/>
              </a:rPr>
              <a:t>import</a:t>
            </a:r>
            <a:r>
              <a:rPr lang="es-AR" sz="1100" dirty="0">
                <a:latin typeface="Consolas" panose="020B0609020204030204" pitchFamily="49" charset="0"/>
              </a:rPr>
              <a:t> producto}</a:t>
            </a:r>
          </a:p>
          <a:p>
            <a:br>
              <a:rPr sz="1100" dirty="0"/>
            </a:br>
            <a:r>
              <a:rPr sz="1100" dirty="0">
                <a:solidFill>
                  <a:srgbClr val="FFFF00"/>
                </a:solidFill>
                <a:latin typeface="Consolas" panose="020B0609020204030204" pitchFamily="49" charset="0"/>
              </a:rPr>
              <a:t>D</a:t>
            </a:r>
            <a:r>
              <a:rPr sz="1100" dirty="0">
                <a:latin typeface="Consolas" panose="020B0609020204030204" pitchFamily="49" charset="0"/>
              </a:rPr>
              <a:t> = </a:t>
            </a:r>
            <a:r>
              <a:rPr sz="1100" dirty="0" err="1">
                <a:latin typeface="Consolas" panose="020B0609020204030204" pitchFamily="49" charset="0"/>
              </a:rPr>
              <a:t>herramientas.leer_csv</a:t>
            </a:r>
            <a:r>
              <a:rPr sz="1100" dirty="0">
                <a:latin typeface="Consolas" panose="020B0609020204030204" pitchFamily="49" charset="0"/>
              </a:rPr>
              <a:t>("Estudiantes.csv")</a:t>
            </a:r>
            <a:endParaRPr lang="es-AR" sz="1100" dirty="0">
              <a:latin typeface="Consolas" panose="020B0609020204030204" pitchFamily="49" charset="0"/>
            </a:endParaRPr>
          </a:p>
          <a:p>
            <a:br>
              <a:rPr sz="1100" dirty="0">
                <a:latin typeface="Consolas" panose="020B0609020204030204" pitchFamily="49" charset="0"/>
              </a:rPr>
            </a:br>
            <a:r>
              <a:rPr lang="es-MX" sz="1100" dirty="0">
                <a:solidFill>
                  <a:srgbClr val="FFFF00"/>
                </a:solidFill>
                <a:latin typeface="Consolas" panose="020B0609020204030204" pitchFamily="49" charset="0"/>
              </a:rPr>
              <a:t>D </a:t>
            </a:r>
            <a:r>
              <a:rPr lang="es-MX" sz="1100" dirty="0">
                <a:latin typeface="Consolas" panose="020B0609020204030204" pitchFamily="49" charset="0"/>
              </a:rPr>
              <a:t>= </a:t>
            </a:r>
            <a:r>
              <a:rPr lang="es-MX" sz="1100" dirty="0" err="1">
                <a:latin typeface="Consolas" panose="020B0609020204030204" pitchFamily="49" charset="0"/>
              </a:rPr>
              <a:t>D.rename</a:t>
            </a:r>
            <a:r>
              <a:rPr lang="es-MX" sz="1100" dirty="0">
                <a:latin typeface="Consolas" panose="020B0609020204030204" pitchFamily="49" charset="0"/>
              </a:rPr>
              <a:t>(</a:t>
            </a:r>
            <a:r>
              <a:rPr lang="es-MX" sz="1100" i="1" dirty="0" err="1">
                <a:latin typeface="Consolas" panose="020B0609020204030204" pitchFamily="49" charset="0"/>
              </a:rPr>
              <a:t>columns</a:t>
            </a:r>
            <a:r>
              <a:rPr lang="es-MX" sz="1100" dirty="0">
                <a:latin typeface="Consolas" panose="020B0609020204030204" pitchFamily="49" charset="0"/>
              </a:rPr>
              <a:t>={</a:t>
            </a:r>
          </a:p>
          <a:p>
            <a:r>
              <a:rPr lang="es-MX" sz="1100" dirty="0">
                <a:latin typeface="Consolas" panose="020B0609020204030204" pitchFamily="49" charset="0"/>
              </a:rPr>
              <a:t>    "Horas de estudio por semana": "</a:t>
            </a:r>
            <a:r>
              <a:rPr lang="es-MX" sz="1100" dirty="0" err="1">
                <a:latin typeface="Consolas" panose="020B0609020204030204" pitchFamily="49" charset="0"/>
              </a:rPr>
              <a:t>Horas_estudio</a:t>
            </a:r>
            <a:r>
              <a:rPr lang="es-MX" sz="1100" dirty="0">
                <a:latin typeface="Consolas" panose="020B0609020204030204" pitchFamily="49" charset="0"/>
              </a:rPr>
              <a:t>",</a:t>
            </a:r>
          </a:p>
          <a:p>
            <a:r>
              <a:rPr lang="es-MX" sz="1100" dirty="0">
                <a:latin typeface="Consolas" panose="020B0609020204030204" pitchFamily="49" charset="0"/>
              </a:rPr>
              <a:t>    "Porcentaje de asistencia": "Asistencia",</a:t>
            </a:r>
          </a:p>
          <a:p>
            <a:r>
              <a:rPr lang="es-MX" sz="1100" dirty="0">
                <a:latin typeface="Consolas" panose="020B0609020204030204" pitchFamily="49" charset="0"/>
              </a:rPr>
              <a:t>    "Calificaciones previas": "</a:t>
            </a:r>
            <a:r>
              <a:rPr lang="es-MX" sz="1100" dirty="0" err="1">
                <a:latin typeface="Consolas" panose="020B0609020204030204" pitchFamily="49" charset="0"/>
              </a:rPr>
              <a:t>Calif_previa</a:t>
            </a:r>
            <a:r>
              <a:rPr lang="es-MX" sz="1100" dirty="0">
                <a:latin typeface="Consolas" panose="020B0609020204030204" pitchFamily="49" charset="0"/>
              </a:rPr>
              <a:t>",</a:t>
            </a:r>
          </a:p>
          <a:p>
            <a:r>
              <a:rPr lang="es-MX" sz="1100" dirty="0">
                <a:latin typeface="Consolas" panose="020B0609020204030204" pitchFamily="49" charset="0"/>
              </a:rPr>
              <a:t>    "Nivel de educación de los padres": "</a:t>
            </a:r>
            <a:r>
              <a:rPr lang="es-MX" sz="1100" dirty="0" err="1">
                <a:latin typeface="Consolas" panose="020B0609020204030204" pitchFamily="49" charset="0"/>
              </a:rPr>
              <a:t>Educ_padres</a:t>
            </a:r>
            <a:r>
              <a:rPr lang="es-MX" sz="1100" dirty="0">
                <a:latin typeface="Consolas" panose="020B0609020204030204" pitchFamily="49" charset="0"/>
              </a:rPr>
              <a:t>",</a:t>
            </a:r>
          </a:p>
          <a:p>
            <a:r>
              <a:rPr lang="es-MX" sz="1100" dirty="0">
                <a:latin typeface="Consolas" panose="020B0609020204030204" pitchFamily="49" charset="0"/>
              </a:rPr>
              <a:t>    "Acceso a internet": "Internet",</a:t>
            </a:r>
          </a:p>
          <a:p>
            <a:r>
              <a:rPr lang="es-MX" sz="1100" dirty="0">
                <a:latin typeface="Consolas" panose="020B0609020204030204" pitchFamily="49" charset="0"/>
              </a:rPr>
              <a:t>    "</a:t>
            </a:r>
            <a:r>
              <a:rPr lang="es-MX" sz="1100" dirty="0" err="1">
                <a:latin typeface="Consolas" panose="020B0609020204030204" pitchFamily="49" charset="0"/>
              </a:rPr>
              <a:t>Extracurricular_Activities</a:t>
            </a:r>
            <a:r>
              <a:rPr lang="es-MX" sz="1100" dirty="0">
                <a:latin typeface="Consolas" panose="020B0609020204030204" pitchFamily="49" charset="0"/>
              </a:rPr>
              <a:t>": "Extracurricular",</a:t>
            </a:r>
          </a:p>
          <a:p>
            <a:r>
              <a:rPr lang="es-MX" sz="1100" dirty="0">
                <a:latin typeface="Consolas" panose="020B0609020204030204" pitchFamily="49" charset="0"/>
              </a:rPr>
              <a:t>    "Calificación": "</a:t>
            </a:r>
            <a:r>
              <a:rPr lang="es-MX" sz="1100" dirty="0" err="1">
                <a:latin typeface="Consolas" panose="020B0609020204030204" pitchFamily="49" charset="0"/>
              </a:rPr>
              <a:t>Calificacion</a:t>
            </a:r>
            <a:r>
              <a:rPr lang="es-MX" sz="1100" dirty="0">
                <a:latin typeface="Consolas" panose="020B0609020204030204" pitchFamily="49" charset="0"/>
              </a:rPr>
              <a:t>",</a:t>
            </a:r>
          </a:p>
          <a:p>
            <a:r>
              <a:rPr lang="es-MX" sz="1100" dirty="0">
                <a:latin typeface="Consolas" panose="020B0609020204030204" pitchFamily="49" charset="0"/>
              </a:rPr>
              <a:t>    "Condición": "</a:t>
            </a:r>
            <a:r>
              <a:rPr lang="es-MX" sz="1100" dirty="0" err="1">
                <a:latin typeface="Consolas" panose="020B0609020204030204" pitchFamily="49" charset="0"/>
              </a:rPr>
              <a:t>Condicion</a:t>
            </a:r>
            <a:r>
              <a:rPr lang="es-MX" sz="1100" dirty="0">
                <a:latin typeface="Consolas" panose="020B0609020204030204" pitchFamily="49" charset="0"/>
              </a:rPr>
              <a:t>",</a:t>
            </a:r>
          </a:p>
          <a:p>
            <a:r>
              <a:rPr lang="es-MX" sz="1100" dirty="0">
                <a:latin typeface="Consolas" panose="020B0609020204030204" pitchFamily="49" charset="0"/>
              </a:rPr>
              <a:t>})</a:t>
            </a:r>
          </a:p>
          <a:p>
            <a:br>
              <a:rPr sz="1100" dirty="0"/>
            </a:b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  <a:cs typeface="Complex" panose="00000400000000000000" pitchFamily="2" charset="0"/>
              </a:rPr>
              <a:t>print</a:t>
            </a:r>
            <a:r>
              <a:rPr lang="es-AR" sz="1100" dirty="0">
                <a:latin typeface="Consolas" panose="020B0609020204030204" pitchFamily="49" charset="0"/>
                <a:cs typeface="Complex" panose="00000400000000000000" pitchFamily="2" charset="0"/>
              </a:rPr>
              <a:t>("Filas totales:", </a:t>
            </a:r>
            <a:r>
              <a:rPr lang="es-AR" sz="1100" dirty="0" err="1">
                <a:latin typeface="Consolas" panose="020B0609020204030204" pitchFamily="49" charset="0"/>
                <a:cs typeface="Complex" panose="00000400000000000000" pitchFamily="2" charset="0"/>
              </a:rPr>
              <a:t>len</a:t>
            </a:r>
            <a:r>
              <a:rPr lang="es-AR" sz="1100" dirty="0">
                <a:latin typeface="Consolas" panose="020B0609020204030204" pitchFamily="49" charset="0"/>
                <a:cs typeface="Complex" panose="00000400000000000000" pitchFamily="2" charset="0"/>
              </a:rPr>
              <a:t>(D))</a:t>
            </a: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  <a:cs typeface="Complex" panose="00000400000000000000" pitchFamily="2" charset="0"/>
              </a:rPr>
              <a:t>print</a:t>
            </a:r>
            <a:r>
              <a:rPr lang="es-AR" sz="1100" dirty="0">
                <a:latin typeface="Consolas" panose="020B0609020204030204" pitchFamily="49" charset="0"/>
                <a:cs typeface="Complex" panose="00000400000000000000" pitchFamily="2" charset="0"/>
              </a:rPr>
              <a:t>("Nulos por columna:\n", </a:t>
            </a:r>
            <a:r>
              <a:rPr lang="es-AR" sz="1100" dirty="0" err="1">
                <a:latin typeface="Consolas" panose="020B0609020204030204" pitchFamily="49" charset="0"/>
                <a:cs typeface="Complex" panose="00000400000000000000" pitchFamily="2" charset="0"/>
              </a:rPr>
              <a:t>herramientas.contar_nulos</a:t>
            </a:r>
            <a:r>
              <a:rPr lang="es-AR" sz="1100" dirty="0">
                <a:latin typeface="Consolas" panose="020B0609020204030204" pitchFamily="49" charset="0"/>
                <a:cs typeface="Complex" panose="00000400000000000000" pitchFamily="2" charset="0"/>
              </a:rPr>
              <a:t>(D))</a:t>
            </a:r>
          </a:p>
          <a:p>
            <a:pPr>
              <a:defRPr sz="1000">
                <a:solidFill>
                  <a:srgbClr val="D4D4D4"/>
                </a:solidFill>
                <a:latin typeface="Consolas"/>
              </a:defRPr>
            </a:pP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589520" y="1371600"/>
            <a:ext cx="4114800" cy="29429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B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ctr">
              <a:spcAft>
                <a:spcPts val="800"/>
              </a:spcAft>
              <a:defRPr sz="1200" b="1">
                <a:solidFill>
                  <a:srgbClr val="A61C28"/>
                </a:solidFill>
                <a:latin typeface="Arial"/>
              </a:defRPr>
            </a:pPr>
            <a:r>
              <a:rPr sz="1400" dirty="0"/>
              <a:t>NOTAS TÉCNICAS</a:t>
            </a:r>
            <a:endParaRPr lang="es-MX" dirty="0"/>
          </a:p>
          <a:p>
            <a:pPr algn="ctr">
              <a:spcAft>
                <a:spcPts val="800"/>
              </a:spcAft>
              <a:defRPr sz="1200" b="1">
                <a:solidFill>
                  <a:srgbClr val="A61C28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sz="1200" dirty="0"/>
              <a:t>• El dataset original </a:t>
            </a:r>
            <a:r>
              <a:rPr sz="1200" dirty="0" err="1"/>
              <a:t>presentaba</a:t>
            </a:r>
            <a:r>
              <a:rPr sz="1200" dirty="0"/>
              <a:t> </a:t>
            </a:r>
            <a:r>
              <a:rPr sz="1200" b="1" dirty="0"/>
              <a:t>708 </a:t>
            </a:r>
            <a:r>
              <a:rPr sz="1200" b="1" dirty="0" err="1"/>
              <a:t>registros</a:t>
            </a:r>
            <a:r>
              <a:rPr sz="1200" b="1" dirty="0"/>
              <a:t> </a:t>
            </a:r>
            <a:r>
              <a:rPr sz="1200" b="1" dirty="0" err="1"/>
              <a:t>totales</a:t>
            </a:r>
            <a:r>
              <a:rPr sz="1200" dirty="0"/>
              <a:t>.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sz="1200" dirty="0"/>
              <a:t>• </a:t>
            </a:r>
            <a:r>
              <a:rPr sz="1200" b="1" dirty="0"/>
              <a:t>0 </a:t>
            </a:r>
            <a:r>
              <a:rPr sz="1200" b="1" dirty="0" err="1"/>
              <a:t>valores</a:t>
            </a:r>
            <a:r>
              <a:rPr sz="1200" b="1" dirty="0"/>
              <a:t> </a:t>
            </a:r>
            <a:r>
              <a:rPr sz="1200" b="1" dirty="0" err="1"/>
              <a:t>nulos</a:t>
            </a:r>
            <a:r>
              <a:rPr sz="1200" b="1" dirty="0"/>
              <a:t> </a:t>
            </a:r>
            <a:r>
              <a:rPr sz="1200" dirty="0" err="1"/>
              <a:t>en</a:t>
            </a:r>
            <a:r>
              <a:rPr sz="1200" dirty="0"/>
              <a:t> </a:t>
            </a:r>
            <a:r>
              <a:rPr sz="1200" dirty="0" err="1"/>
              <a:t>todas</a:t>
            </a:r>
            <a:r>
              <a:rPr sz="1200" dirty="0"/>
              <a:t> las variables, no </a:t>
            </a:r>
            <a:r>
              <a:rPr sz="1200" dirty="0" err="1"/>
              <a:t>requiere</a:t>
            </a:r>
            <a:r>
              <a:rPr sz="1200" dirty="0"/>
              <a:t> </a:t>
            </a:r>
            <a:r>
              <a:rPr sz="1200" dirty="0" err="1"/>
              <a:t>imputación</a:t>
            </a:r>
            <a:r>
              <a:rPr sz="1200" dirty="0"/>
              <a:t> </a:t>
            </a:r>
            <a:r>
              <a:rPr sz="1200" dirty="0" err="1"/>
              <a:t>ni</a:t>
            </a:r>
            <a:r>
              <a:rPr sz="1200" dirty="0"/>
              <a:t> </a:t>
            </a:r>
            <a:r>
              <a:rPr sz="1200" dirty="0" err="1"/>
              <a:t>descarte</a:t>
            </a:r>
            <a:r>
              <a:rPr sz="1200" dirty="0"/>
              <a:t> de </a:t>
            </a:r>
            <a:r>
              <a:rPr sz="1200" dirty="0" err="1"/>
              <a:t>filas</a:t>
            </a:r>
            <a:r>
              <a:rPr sz="1200" dirty="0"/>
              <a:t> </a:t>
            </a:r>
            <a:r>
              <a:rPr sz="1200" dirty="0" err="1"/>
              <a:t>por</a:t>
            </a:r>
            <a:r>
              <a:rPr sz="1200" dirty="0"/>
              <a:t> </a:t>
            </a:r>
            <a:r>
              <a:rPr sz="1200" dirty="0" err="1"/>
              <a:t>ausencia</a:t>
            </a:r>
            <a:r>
              <a:rPr sz="1200" dirty="0"/>
              <a:t> de </a:t>
            </a:r>
            <a:r>
              <a:rPr sz="1200" dirty="0" err="1"/>
              <a:t>datos</a:t>
            </a:r>
            <a:r>
              <a:rPr sz="1200" dirty="0"/>
              <a:t>.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sz="1200" dirty="0"/>
              <a:t>•</a:t>
            </a:r>
            <a:r>
              <a:rPr lang="es-AR" sz="1200" dirty="0"/>
              <a:t>Se modifico los nombres (</a:t>
            </a:r>
            <a:r>
              <a:rPr lang="es-AR" sz="1200" dirty="0" err="1"/>
              <a:t>Mayusculas</a:t>
            </a:r>
            <a:r>
              <a:rPr lang="es-AR" sz="1200" dirty="0"/>
              <a:t>, Acentos, “ñ”, espacios, etc.) de las columnas para </a:t>
            </a:r>
            <a:r>
              <a:rPr lang="es-AR" sz="1200" b="1" dirty="0"/>
              <a:t>evitar errores </a:t>
            </a:r>
            <a:r>
              <a:rPr lang="es-AR" sz="1200" dirty="0"/>
              <a:t>de escritura</a:t>
            </a:r>
            <a:endParaRPr sz="12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0ED03C9-00DF-B0B8-CD98-D70919A35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345" y="4599981"/>
            <a:ext cx="1707975" cy="202941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A6CAC01F-388F-0E89-1946-548FEC5279D6}"/>
              </a:ext>
            </a:extLst>
          </p:cNvPr>
          <p:cNvCxnSpPr>
            <a:cxnSpLocks/>
          </p:cNvCxnSpPr>
          <p:nvPr/>
        </p:nvCxnSpPr>
        <p:spPr>
          <a:xfrm>
            <a:off x="7315200" y="4767309"/>
            <a:ext cx="1438537" cy="847382"/>
          </a:xfrm>
          <a:prstGeom prst="bentConnector3">
            <a:avLst/>
          </a:prstGeom>
          <a:ln>
            <a:solidFill>
              <a:srgbClr val="A61C28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08A6D6-F4E3-D585-9CDE-C992D053F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A671AB-DE04-281B-E183-215A7F387317}"/>
              </a:ext>
            </a:extLst>
          </p:cNvPr>
          <p:cNvSpPr/>
          <p:nvPr/>
        </p:nvSpPr>
        <p:spPr>
          <a:xfrm>
            <a:off x="11704320" y="6400800"/>
            <a:ext cx="487375" cy="457200"/>
          </a:xfrm>
          <a:prstGeom prst="rect">
            <a:avLst/>
          </a:prstGeom>
          <a:solidFill>
            <a:srgbClr val="BEB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C1339F-C077-D52D-A391-0A36CC3A03AB}"/>
              </a:ext>
            </a:extLst>
          </p:cNvPr>
          <p:cNvSpPr/>
          <p:nvPr/>
        </p:nvSpPr>
        <p:spPr>
          <a:xfrm>
            <a:off x="11430000" y="6583680"/>
            <a:ext cx="761695" cy="274320"/>
          </a:xfrm>
          <a:prstGeom prst="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F33CBD-29F1-D738-6D3A-92549FCDEA27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F7EB00C-EA91-A4D1-7559-9213D16F3E5F}"/>
              </a:ext>
            </a:extLst>
          </p:cNvPr>
          <p:cNvSpPr/>
          <p:nvPr/>
        </p:nvSpPr>
        <p:spPr>
          <a:xfrm>
            <a:off x="9418320" y="320040"/>
            <a:ext cx="2286000" cy="365760"/>
          </a:xfrm>
          <a:prstGeom prst="round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/>
              <a:t>EJERCICIO 1</a:t>
            </a:r>
            <a:r>
              <a:rPr lang="es-AR" dirty="0"/>
              <a:t>.1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DEC173-88AC-7B69-1D88-16F24D62EDB7}"/>
              </a:ext>
            </a:extLst>
          </p:cNvPr>
          <p:cNvSpPr/>
          <p:nvPr/>
        </p:nvSpPr>
        <p:spPr>
          <a:xfrm>
            <a:off x="487680" y="1371600"/>
            <a:ext cx="6858000" cy="2206101"/>
          </a:xfrm>
          <a:prstGeom prst="rect">
            <a:avLst/>
          </a:prstGeom>
          <a:solidFill>
            <a:srgbClr val="1E1E1E"/>
          </a:solidFill>
          <a:ln w="127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r>
              <a:rPr lang="es-AR" sz="1050" dirty="0">
                <a:solidFill>
                  <a:srgbClr val="FFFF00"/>
                </a:solidFill>
                <a:latin typeface="Consolas" panose="020B0609020204030204" pitchFamily="49" charset="0"/>
              </a:rPr>
              <a:t>D</a:t>
            </a:r>
            <a:r>
              <a:rPr lang="es-AR" sz="1050" dirty="0">
                <a:latin typeface="Consolas" panose="020B0609020204030204" pitchFamily="49" charset="0"/>
              </a:rPr>
              <a:t> = </a:t>
            </a:r>
            <a:r>
              <a:rPr lang="es-AR" sz="1050" dirty="0" err="1">
                <a:latin typeface="Consolas" panose="020B0609020204030204" pitchFamily="49" charset="0"/>
              </a:rPr>
              <a:t>herramientas.eliminar_duplicados</a:t>
            </a:r>
            <a:r>
              <a:rPr lang="es-AR" sz="1050" dirty="0">
                <a:latin typeface="Consolas" panose="020B0609020204030204" pitchFamily="49" charset="0"/>
              </a:rPr>
              <a:t>(D)</a:t>
            </a:r>
          </a:p>
          <a:p>
            <a:endParaRPr lang="es-AR" sz="1050" dirty="0">
              <a:latin typeface="Consolas" panose="020B0609020204030204" pitchFamily="49" charset="0"/>
            </a:endParaRPr>
          </a:p>
          <a:p>
            <a:r>
              <a:rPr lang="es-AR" sz="1050" dirty="0" err="1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s-AR" sz="1050" dirty="0">
                <a:latin typeface="Consolas" panose="020B0609020204030204" pitchFamily="49" charset="0"/>
              </a:rPr>
              <a:t>("Filas luego de eliminar duplicados:", </a:t>
            </a:r>
            <a:r>
              <a:rPr lang="es-AR" sz="1050" dirty="0" err="1">
                <a:latin typeface="Consolas" panose="020B0609020204030204" pitchFamily="49" charset="0"/>
              </a:rPr>
              <a:t>len</a:t>
            </a:r>
            <a:r>
              <a:rPr lang="es-AR" sz="1050" dirty="0">
                <a:latin typeface="Consolas" panose="020B0609020204030204" pitchFamily="49" charset="0"/>
              </a:rPr>
              <a:t>(D))</a:t>
            </a:r>
          </a:p>
          <a:p>
            <a:endParaRPr lang="es-AR" sz="1050" dirty="0">
              <a:latin typeface="Consolas" panose="020B0609020204030204" pitchFamily="49" charset="0"/>
            </a:endParaRPr>
          </a:p>
          <a:p>
            <a:r>
              <a:rPr lang="es-AR" sz="1050" dirty="0" err="1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s-AR" sz="1050" dirty="0">
                <a:latin typeface="Consolas" panose="020B0609020204030204" pitchFamily="49" charset="0"/>
              </a:rPr>
              <a:t>(D[["</a:t>
            </a:r>
            <a:r>
              <a:rPr lang="es-AR" sz="1050" dirty="0" err="1">
                <a:latin typeface="Consolas" panose="020B0609020204030204" pitchFamily="49" charset="0"/>
              </a:rPr>
              <a:t>Horas_estudio</a:t>
            </a:r>
            <a:r>
              <a:rPr lang="es-AR" sz="1050" dirty="0">
                <a:latin typeface="Consolas" panose="020B0609020204030204" pitchFamily="49" charset="0"/>
              </a:rPr>
              <a:t>", "Asistencia", "</a:t>
            </a:r>
            <a:r>
              <a:rPr lang="es-AR" sz="1050" dirty="0" err="1">
                <a:latin typeface="Consolas" panose="020B0609020204030204" pitchFamily="49" charset="0"/>
              </a:rPr>
              <a:t>Calif_previa</a:t>
            </a:r>
            <a:r>
              <a:rPr lang="es-AR" sz="1050" dirty="0">
                <a:latin typeface="Consolas" panose="020B0609020204030204" pitchFamily="49" charset="0"/>
              </a:rPr>
              <a:t>", "</a:t>
            </a:r>
            <a:r>
              <a:rPr lang="es-AR" sz="1050" dirty="0" err="1">
                <a:latin typeface="Consolas" panose="020B0609020204030204" pitchFamily="49" charset="0"/>
              </a:rPr>
              <a:t>Calificacion</a:t>
            </a:r>
            <a:r>
              <a:rPr lang="es-AR" sz="1050" dirty="0">
                <a:latin typeface="Consolas" panose="020B0609020204030204" pitchFamily="49" charset="0"/>
              </a:rPr>
              <a:t>"]].describe())</a:t>
            </a:r>
          </a:p>
          <a:p>
            <a:endParaRPr lang="es-AR" sz="1050" dirty="0">
              <a:latin typeface="Consolas" panose="020B0609020204030204" pitchFamily="49" charset="0"/>
            </a:endParaRPr>
          </a:p>
          <a:p>
            <a:r>
              <a:rPr lang="es-AR" sz="1050" dirty="0">
                <a:solidFill>
                  <a:srgbClr val="FFFF00"/>
                </a:solidFill>
                <a:latin typeface="Consolas" panose="020B0609020204030204" pitchFamily="49" charset="0"/>
              </a:rPr>
              <a:t>D["</a:t>
            </a:r>
            <a:r>
              <a:rPr lang="es-AR" sz="1050" dirty="0" err="1">
                <a:solidFill>
                  <a:srgbClr val="FFFF00"/>
                </a:solidFill>
                <a:latin typeface="Consolas" panose="020B0609020204030204" pitchFamily="49" charset="0"/>
              </a:rPr>
              <a:t>Condicion_bin</a:t>
            </a:r>
            <a:r>
              <a:rPr lang="es-AR" sz="1050" dirty="0">
                <a:solidFill>
                  <a:srgbClr val="FFFF00"/>
                </a:solidFill>
                <a:latin typeface="Consolas" panose="020B0609020204030204" pitchFamily="49" charset="0"/>
              </a:rPr>
              <a:t>"] </a:t>
            </a:r>
            <a:r>
              <a:rPr lang="es-AR" sz="1050" dirty="0">
                <a:latin typeface="Consolas" panose="020B0609020204030204" pitchFamily="49" charset="0"/>
              </a:rPr>
              <a:t>= </a:t>
            </a:r>
            <a:r>
              <a:rPr lang="es-AR" sz="1050" dirty="0" err="1">
                <a:latin typeface="Consolas" panose="020B0609020204030204" pitchFamily="49" charset="0"/>
              </a:rPr>
              <a:t>herramientas.codificar_binaria</a:t>
            </a:r>
            <a:r>
              <a:rPr lang="es-AR" sz="1050" dirty="0">
                <a:latin typeface="Consolas" panose="020B0609020204030204" pitchFamily="49" charset="0"/>
              </a:rPr>
              <a:t>(D["</a:t>
            </a:r>
            <a:r>
              <a:rPr lang="es-AR" sz="1050" dirty="0" err="1">
                <a:latin typeface="Consolas" panose="020B0609020204030204" pitchFamily="49" charset="0"/>
              </a:rPr>
              <a:t>Condicion</a:t>
            </a:r>
            <a:r>
              <a:rPr lang="es-AR" sz="1050" dirty="0">
                <a:latin typeface="Consolas" panose="020B0609020204030204" pitchFamily="49" charset="0"/>
              </a:rPr>
              <a:t>"], "Aprobado")</a:t>
            </a:r>
          </a:p>
          <a:p>
            <a:br>
              <a:rPr lang="es-AR" sz="1050" dirty="0">
                <a:latin typeface="Consolas" panose="020B0609020204030204" pitchFamily="49" charset="0"/>
              </a:rPr>
            </a:br>
            <a:r>
              <a:rPr lang="es-AR" sz="1050" dirty="0" err="1">
                <a:solidFill>
                  <a:srgbClr val="FFFF00"/>
                </a:solidFill>
                <a:latin typeface="Consolas" panose="020B0609020204030204" pitchFamily="49" charset="0"/>
              </a:rPr>
              <a:t>df_train</a:t>
            </a:r>
            <a:r>
              <a:rPr lang="es-AR" sz="1050" dirty="0">
                <a:solidFill>
                  <a:srgbClr val="FFFF00"/>
                </a:solidFill>
                <a:latin typeface="Consolas" panose="020B0609020204030204" pitchFamily="49" charset="0"/>
              </a:rPr>
              <a:t>, </a:t>
            </a:r>
            <a:r>
              <a:rPr lang="es-AR" sz="1050" dirty="0" err="1">
                <a:solidFill>
                  <a:srgbClr val="FFFF00"/>
                </a:solidFill>
                <a:latin typeface="Consolas" panose="020B0609020204030204" pitchFamily="49" charset="0"/>
              </a:rPr>
              <a:t>df_test</a:t>
            </a:r>
            <a:r>
              <a:rPr lang="es-AR" sz="105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050" dirty="0">
                <a:latin typeface="Consolas" panose="020B0609020204030204" pitchFamily="49" charset="0"/>
              </a:rPr>
              <a:t>= </a:t>
            </a:r>
            <a:r>
              <a:rPr lang="es-AR" sz="1050" dirty="0" err="1">
                <a:latin typeface="Consolas" panose="020B0609020204030204" pitchFamily="49" charset="0"/>
              </a:rPr>
              <a:t>herramientas.separar_train_test</a:t>
            </a:r>
            <a:r>
              <a:rPr lang="es-AR" sz="1050" dirty="0">
                <a:latin typeface="Consolas" panose="020B0609020204030204" pitchFamily="49" charset="0"/>
              </a:rPr>
              <a:t>(D, </a:t>
            </a:r>
            <a:r>
              <a:rPr lang="es-AR" sz="1050" i="1" dirty="0" err="1">
                <a:latin typeface="Consolas" panose="020B0609020204030204" pitchFamily="49" charset="0"/>
              </a:rPr>
              <a:t>tam_test</a:t>
            </a:r>
            <a:r>
              <a:rPr lang="es-AR" sz="1050" dirty="0">
                <a:latin typeface="Consolas" panose="020B0609020204030204" pitchFamily="49" charset="0"/>
              </a:rPr>
              <a:t>=0.2, </a:t>
            </a:r>
            <a:r>
              <a:rPr lang="es-AR" sz="1050" i="1" dirty="0">
                <a:latin typeface="Consolas" panose="020B0609020204030204" pitchFamily="49" charset="0"/>
              </a:rPr>
              <a:t>semilla</a:t>
            </a:r>
            <a:r>
              <a:rPr lang="es-AR" sz="1050" dirty="0">
                <a:latin typeface="Consolas" panose="020B0609020204030204" pitchFamily="49" charset="0"/>
              </a:rPr>
              <a:t>=42)</a:t>
            </a:r>
          </a:p>
          <a:p>
            <a:endParaRPr lang="es-AR" sz="1050" dirty="0">
              <a:latin typeface="Consolas" panose="020B0609020204030204" pitchFamily="49" charset="0"/>
            </a:endParaRPr>
          </a:p>
          <a:p>
            <a:r>
              <a:rPr lang="es-AR" sz="1050" dirty="0" err="1">
                <a:latin typeface="Consolas" panose="020B0609020204030204" pitchFamily="49" charset="0"/>
              </a:rPr>
              <a:t>print</a:t>
            </a:r>
            <a:r>
              <a:rPr lang="es-AR" sz="1050" dirty="0">
                <a:latin typeface="Consolas" panose="020B0609020204030204" pitchFamily="49" charset="0"/>
              </a:rPr>
              <a:t>("Train:", </a:t>
            </a:r>
            <a:r>
              <a:rPr lang="es-AR" sz="1050" dirty="0" err="1">
                <a:latin typeface="Consolas" panose="020B0609020204030204" pitchFamily="49" charset="0"/>
              </a:rPr>
              <a:t>len</a:t>
            </a:r>
            <a:r>
              <a:rPr lang="es-AR" sz="1050" dirty="0">
                <a:latin typeface="Consolas" panose="020B0609020204030204" pitchFamily="49" charset="0"/>
              </a:rPr>
              <a:t>(</a:t>
            </a:r>
            <a:r>
              <a:rPr lang="es-AR" sz="1050" dirty="0" err="1">
                <a:latin typeface="Consolas" panose="020B0609020204030204" pitchFamily="49" charset="0"/>
              </a:rPr>
              <a:t>df_train</a:t>
            </a:r>
            <a:r>
              <a:rPr lang="es-AR" sz="1050" dirty="0">
                <a:latin typeface="Consolas" panose="020B0609020204030204" pitchFamily="49" charset="0"/>
              </a:rPr>
              <a:t>), "Test:", </a:t>
            </a:r>
            <a:r>
              <a:rPr lang="es-AR" sz="1050" dirty="0" err="1">
                <a:latin typeface="Consolas" panose="020B0609020204030204" pitchFamily="49" charset="0"/>
              </a:rPr>
              <a:t>len</a:t>
            </a:r>
            <a:r>
              <a:rPr lang="es-AR" sz="1050" dirty="0">
                <a:latin typeface="Consolas" panose="020B0609020204030204" pitchFamily="49" charset="0"/>
              </a:rPr>
              <a:t>(</a:t>
            </a:r>
            <a:r>
              <a:rPr lang="es-AR" sz="1050" dirty="0" err="1">
                <a:latin typeface="Consolas" panose="020B0609020204030204" pitchFamily="49" charset="0"/>
              </a:rPr>
              <a:t>df_test</a:t>
            </a:r>
            <a:r>
              <a:rPr lang="es-AR" sz="1050" dirty="0">
                <a:latin typeface="Consolas" panose="020B0609020204030204" pitchFamily="49" charset="0"/>
              </a:rPr>
              <a:t>))</a:t>
            </a:r>
          </a:p>
          <a:p>
            <a:endParaRPr lang="es-AR" sz="1100" dirty="0">
              <a:latin typeface="Consolas" panose="020B0609020204030204" pitchFamily="49" charset="0"/>
            </a:endParaRP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F27D6BA1-D727-2479-C4C8-177049951761}"/>
              </a:ext>
            </a:extLst>
          </p:cNvPr>
          <p:cNvSpPr/>
          <p:nvPr/>
        </p:nvSpPr>
        <p:spPr>
          <a:xfrm>
            <a:off x="7589520" y="1463040"/>
            <a:ext cx="4114800" cy="36948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B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ctr">
              <a:spcAft>
                <a:spcPts val="800"/>
              </a:spcAft>
              <a:defRPr sz="1200" b="1">
                <a:solidFill>
                  <a:srgbClr val="A61C28"/>
                </a:solidFill>
                <a:latin typeface="Arial"/>
              </a:defRPr>
            </a:pPr>
            <a:r>
              <a:rPr sz="1400" dirty="0"/>
              <a:t>NOTAS TÉCNICAS</a:t>
            </a:r>
            <a:endParaRPr lang="es-MX" dirty="0"/>
          </a:p>
          <a:p>
            <a:pPr algn="ctr">
              <a:spcAft>
                <a:spcPts val="800"/>
              </a:spcAft>
              <a:defRPr sz="1200" b="1">
                <a:solidFill>
                  <a:srgbClr val="A61C28"/>
                </a:solidFill>
                <a:latin typeface="Arial"/>
              </a:defRPr>
            </a:pPr>
            <a:endParaRPr dirty="0"/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MX" sz="1200" dirty="0"/>
              <a:t>• </a:t>
            </a:r>
            <a:r>
              <a:rPr lang="es-MX" sz="1200" b="1" dirty="0"/>
              <a:t>Se detectaron y eliminaron 208</a:t>
            </a:r>
            <a:r>
              <a:rPr lang="es-MX" sz="1200" dirty="0"/>
              <a:t> duplicados exactos. Quedan </a:t>
            </a:r>
            <a:r>
              <a:rPr lang="es-MX" sz="1200" b="1" dirty="0"/>
              <a:t>500 registros únicos </a:t>
            </a:r>
            <a:r>
              <a:rPr lang="es-MX" sz="1200" dirty="0"/>
              <a:t>para entrenamiento y prueba.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MX" sz="1050" dirty="0"/>
              <a:t>• </a:t>
            </a:r>
            <a:r>
              <a:rPr lang="es-AR" sz="1050" dirty="0"/>
              <a:t>Buscamos </a:t>
            </a:r>
            <a:r>
              <a:rPr lang="es-AR" sz="1050" b="1" dirty="0"/>
              <a:t>valores atípicos o imposibles </a:t>
            </a:r>
            <a:r>
              <a:rPr lang="es-AR" sz="1050" dirty="0"/>
              <a:t>en las columnas seleccionadas 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MX" sz="1200" dirty="0"/>
              <a:t>• Obtenemos datos sobre la media, el mínimo y el máximo de las columnas seleccionadas.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MX" sz="1200" dirty="0"/>
              <a:t>•</a:t>
            </a:r>
            <a:r>
              <a:rPr lang="es-AR" sz="1200" dirty="0"/>
              <a:t> Se reemplazo de la variable “Calificación” a  una clasificación binaria (0 y 1)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MX" sz="1200" dirty="0"/>
              <a:t>• Dividimos los datos en Entrenamiento (80%) y prueba (20%)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539E3D3-22A8-F8AE-3A6E-0CB9092D4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196" y="4147631"/>
            <a:ext cx="5916967" cy="212798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412C9B00-720D-1EDC-1439-1C423987B3D3}"/>
              </a:ext>
            </a:extLst>
          </p:cNvPr>
          <p:cNvSpPr/>
          <p:nvPr/>
        </p:nvSpPr>
        <p:spPr>
          <a:xfrm rot="5400000">
            <a:off x="3536564" y="3617650"/>
            <a:ext cx="301841" cy="435006"/>
          </a:xfrm>
          <a:prstGeom prst="rightArrow">
            <a:avLst/>
          </a:prstGeom>
          <a:solidFill>
            <a:srgbClr val="A61C28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6D9A2B7-A5EA-E385-C695-ED59A7562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260" y="5512626"/>
            <a:ext cx="3191320" cy="53347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8" name="Conector: curvado 17">
            <a:extLst>
              <a:ext uri="{FF2B5EF4-FFF2-40B4-BE49-F238E27FC236}">
                <a16:creationId xmlns:a16="http://schemas.microsoft.com/office/drawing/2014/main" id="{014A0553-A24B-5DEF-CFBC-EA391C50B97F}"/>
              </a:ext>
            </a:extLst>
          </p:cNvPr>
          <p:cNvCxnSpPr>
            <a:cxnSpLocks/>
            <a:endCxn id="14" idx="2"/>
          </p:cNvCxnSpPr>
          <p:nvPr/>
        </p:nvCxnSpPr>
        <p:spPr>
          <a:xfrm rot="16200000" flipH="1">
            <a:off x="6425534" y="4153637"/>
            <a:ext cx="2201662" cy="1049790"/>
          </a:xfrm>
          <a:prstGeom prst="curvedConnector2">
            <a:avLst/>
          </a:prstGeom>
          <a:ln>
            <a:solidFill>
              <a:srgbClr val="A61C28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800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04320" y="6400800"/>
            <a:ext cx="487375" cy="457200"/>
          </a:xfrm>
          <a:prstGeom prst="rect">
            <a:avLst/>
          </a:prstGeom>
          <a:solidFill>
            <a:srgbClr val="BEB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430000" y="6583680"/>
            <a:ext cx="761695" cy="274320"/>
          </a:xfrm>
          <a:prstGeom prst="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18320" y="320040"/>
            <a:ext cx="2286000" cy="365760"/>
          </a:xfrm>
          <a:prstGeom prst="round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/>
              <a:t>EJERCICIO 1</a:t>
            </a:r>
            <a:r>
              <a:rPr lang="es-AR" dirty="0"/>
              <a:t>.2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858000" cy="3457852"/>
          </a:xfrm>
          <a:prstGeom prst="rect">
            <a:avLst/>
          </a:prstGeom>
          <a:solidFill>
            <a:srgbClr val="1E1E1E"/>
          </a:solidFill>
          <a:ln w="127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columnas_x</a:t>
            </a:r>
            <a:r>
              <a:rPr lang="es-AR" sz="1100" dirty="0">
                <a:latin typeface="Consolas" panose="020B0609020204030204" pitchFamily="49" charset="0"/>
              </a:rPr>
              <a:t> = ["</a:t>
            </a:r>
            <a:r>
              <a:rPr lang="es-AR" sz="1100" dirty="0" err="1">
                <a:latin typeface="Consolas" panose="020B0609020204030204" pitchFamily="49" charset="0"/>
              </a:rPr>
              <a:t>Horas_estudio</a:t>
            </a:r>
            <a:r>
              <a:rPr lang="es-AR" sz="1100" dirty="0">
                <a:latin typeface="Consolas" panose="020B0609020204030204" pitchFamily="49" charset="0"/>
              </a:rPr>
              <a:t>", "</a:t>
            </a:r>
            <a:r>
              <a:rPr lang="es-AR" sz="1100" dirty="0" err="1">
                <a:latin typeface="Consolas" panose="020B0609020204030204" pitchFamily="49" charset="0"/>
              </a:rPr>
              <a:t>Calif_previa</a:t>
            </a:r>
            <a:r>
              <a:rPr lang="es-AR" sz="1100" dirty="0">
                <a:latin typeface="Consolas" panose="020B0609020204030204" pitchFamily="49" charset="0"/>
              </a:rPr>
              <a:t>", "Asistencia"]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X_train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>
                <a:latin typeface="Consolas" panose="020B0609020204030204" pitchFamily="49" charset="0"/>
              </a:rPr>
              <a:t>= </a:t>
            </a:r>
            <a:r>
              <a:rPr lang="es-AR" sz="1100" dirty="0" err="1">
                <a:latin typeface="Consolas" panose="020B0609020204030204" pitchFamily="49" charset="0"/>
              </a:rPr>
              <a:t>df_train</a:t>
            </a:r>
            <a:r>
              <a:rPr lang="es-AR" sz="1100" dirty="0">
                <a:latin typeface="Consolas" panose="020B0609020204030204" pitchFamily="49" charset="0"/>
              </a:rPr>
              <a:t>[</a:t>
            </a:r>
            <a:r>
              <a:rPr lang="es-AR" sz="1100" dirty="0" err="1">
                <a:latin typeface="Consolas" panose="020B0609020204030204" pitchFamily="49" charset="0"/>
              </a:rPr>
              <a:t>columnas_x</a:t>
            </a:r>
            <a:r>
              <a:rPr lang="es-AR" sz="1100" dirty="0">
                <a:latin typeface="Consolas" panose="020B0609020204030204" pitchFamily="49" charset="0"/>
              </a:rPr>
              <a:t>].</a:t>
            </a:r>
            <a:r>
              <a:rPr lang="es-AR" sz="1100" dirty="0" err="1">
                <a:latin typeface="Consolas" panose="020B0609020204030204" pitchFamily="49" charset="0"/>
              </a:rPr>
              <a:t>values</a:t>
            </a:r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y_train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>
                <a:latin typeface="Consolas" panose="020B0609020204030204" pitchFamily="49" charset="0"/>
              </a:rPr>
              <a:t>= </a:t>
            </a:r>
            <a:r>
              <a:rPr lang="es-AR" sz="1100" dirty="0" err="1">
                <a:latin typeface="Consolas" panose="020B0609020204030204" pitchFamily="49" charset="0"/>
              </a:rPr>
              <a:t>df_train</a:t>
            </a:r>
            <a:r>
              <a:rPr lang="es-AR" sz="1100" dirty="0">
                <a:latin typeface="Consolas" panose="020B0609020204030204" pitchFamily="49" charset="0"/>
              </a:rPr>
              <a:t>["</a:t>
            </a:r>
            <a:r>
              <a:rPr lang="es-AR" sz="1100" dirty="0" err="1">
                <a:latin typeface="Consolas" panose="020B0609020204030204" pitchFamily="49" charset="0"/>
              </a:rPr>
              <a:t>Calificacion</a:t>
            </a:r>
            <a:r>
              <a:rPr lang="es-AR" sz="1100" dirty="0">
                <a:latin typeface="Consolas" panose="020B0609020204030204" pitchFamily="49" charset="0"/>
              </a:rPr>
              <a:t>"].</a:t>
            </a:r>
            <a:r>
              <a:rPr lang="es-AR" sz="1100" dirty="0" err="1">
                <a:latin typeface="Consolas" panose="020B0609020204030204" pitchFamily="49" charset="0"/>
              </a:rPr>
              <a:t>values</a:t>
            </a:r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X_test</a:t>
            </a:r>
            <a:r>
              <a:rPr lang="es-AR" sz="1100" dirty="0">
                <a:latin typeface="Consolas" panose="020B0609020204030204" pitchFamily="49" charset="0"/>
              </a:rPr>
              <a:t> = </a:t>
            </a:r>
            <a:r>
              <a:rPr lang="es-AR" sz="1100" dirty="0" err="1">
                <a:latin typeface="Consolas" panose="020B0609020204030204" pitchFamily="49" charset="0"/>
              </a:rPr>
              <a:t>df_test</a:t>
            </a:r>
            <a:r>
              <a:rPr lang="es-AR" sz="1100" dirty="0">
                <a:latin typeface="Consolas" panose="020B0609020204030204" pitchFamily="49" charset="0"/>
              </a:rPr>
              <a:t>[</a:t>
            </a:r>
            <a:r>
              <a:rPr lang="es-AR" sz="1100" dirty="0" err="1">
                <a:latin typeface="Consolas" panose="020B0609020204030204" pitchFamily="49" charset="0"/>
              </a:rPr>
              <a:t>columnas_x</a:t>
            </a:r>
            <a:r>
              <a:rPr lang="es-AR" sz="1100" dirty="0">
                <a:latin typeface="Consolas" panose="020B0609020204030204" pitchFamily="49" charset="0"/>
              </a:rPr>
              <a:t>].</a:t>
            </a:r>
            <a:r>
              <a:rPr lang="es-AR" sz="1100" dirty="0" err="1">
                <a:latin typeface="Consolas" panose="020B0609020204030204" pitchFamily="49" charset="0"/>
              </a:rPr>
              <a:t>values</a:t>
            </a:r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y_test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>
                <a:latin typeface="Consolas" panose="020B0609020204030204" pitchFamily="49" charset="0"/>
              </a:rPr>
              <a:t>= </a:t>
            </a:r>
            <a:r>
              <a:rPr lang="es-AR" sz="1100" dirty="0" err="1">
                <a:latin typeface="Consolas" panose="020B0609020204030204" pitchFamily="49" charset="0"/>
              </a:rPr>
              <a:t>df_test</a:t>
            </a:r>
            <a:r>
              <a:rPr lang="es-AR" sz="1100" dirty="0">
                <a:latin typeface="Consolas" panose="020B0609020204030204" pitchFamily="49" charset="0"/>
              </a:rPr>
              <a:t>["</a:t>
            </a:r>
            <a:r>
              <a:rPr lang="es-AR" sz="1100" dirty="0" err="1">
                <a:latin typeface="Consolas" panose="020B0609020204030204" pitchFamily="49" charset="0"/>
              </a:rPr>
              <a:t>Calificacion</a:t>
            </a:r>
            <a:r>
              <a:rPr lang="es-AR" sz="1100" dirty="0">
                <a:latin typeface="Consolas" panose="020B0609020204030204" pitchFamily="49" charset="0"/>
              </a:rPr>
              <a:t>"].</a:t>
            </a:r>
            <a:r>
              <a:rPr lang="es-AR" sz="1100" dirty="0" err="1">
                <a:latin typeface="Consolas" panose="020B0609020204030204" pitchFamily="49" charset="0"/>
              </a:rPr>
              <a:t>values</a:t>
            </a:r>
            <a:endParaRPr lang="es-AR" sz="1100" dirty="0">
              <a:latin typeface="Consolas" panose="020B0609020204030204" pitchFamily="49" charset="0"/>
            </a:endParaRPr>
          </a:p>
          <a:p>
            <a:br>
              <a:rPr lang="es-AR" sz="1100" dirty="0">
                <a:latin typeface="Consolas" panose="020B0609020204030204" pitchFamily="49" charset="0"/>
              </a:rPr>
            </a:br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beta</a:t>
            </a:r>
            <a:r>
              <a:rPr lang="es-AR" sz="1100" dirty="0">
                <a:latin typeface="Consolas" panose="020B0609020204030204" pitchFamily="49" charset="0"/>
              </a:rPr>
              <a:t> = </a:t>
            </a:r>
            <a:r>
              <a:rPr lang="es-AR" sz="1100" dirty="0" err="1">
                <a:latin typeface="Consolas" panose="020B0609020204030204" pitchFamily="49" charset="0"/>
              </a:rPr>
              <a:t>alg.regresion_lineal_multiple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X_train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y_train</a:t>
            </a:r>
            <a:r>
              <a:rPr lang="es-AR" sz="1100" dirty="0">
                <a:latin typeface="Consolas" panose="020B0609020204030204" pitchFamily="49" charset="0"/>
              </a:rPr>
              <a:t>)</a:t>
            </a: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y_pred_reg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>
                <a:latin typeface="Consolas" panose="020B0609020204030204" pitchFamily="49" charset="0"/>
              </a:rPr>
              <a:t>= </a:t>
            </a:r>
            <a:r>
              <a:rPr lang="es-AR" sz="1100" dirty="0" err="1">
                <a:latin typeface="Consolas" panose="020B0609020204030204" pitchFamily="49" charset="0"/>
              </a:rPr>
              <a:t>alg.predecir_regresion_lineal</a:t>
            </a:r>
            <a:r>
              <a:rPr lang="es-AR" sz="1100" dirty="0">
                <a:latin typeface="Consolas" panose="020B0609020204030204" pitchFamily="49" charset="0"/>
              </a:rPr>
              <a:t>(beta, </a:t>
            </a:r>
            <a:r>
              <a:rPr lang="es-AR" sz="1100" dirty="0" err="1">
                <a:latin typeface="Consolas" panose="020B0609020204030204" pitchFamily="49" charset="0"/>
              </a:rPr>
              <a:t>X_test</a:t>
            </a:r>
            <a:r>
              <a:rPr lang="es-AR" sz="1100" dirty="0">
                <a:latin typeface="Consolas" panose="020B0609020204030204" pitchFamily="49" charset="0"/>
              </a:rPr>
              <a:t>)</a:t>
            </a:r>
          </a:p>
          <a:p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r2</a:t>
            </a:r>
            <a:r>
              <a:rPr lang="es-AR" sz="1100" dirty="0">
                <a:latin typeface="Consolas" panose="020B0609020204030204" pitchFamily="49" charset="0"/>
              </a:rPr>
              <a:t> = </a:t>
            </a:r>
            <a:r>
              <a:rPr lang="es-AR" sz="1100" dirty="0" err="1">
                <a:latin typeface="Consolas" panose="020B0609020204030204" pitchFamily="49" charset="0"/>
              </a:rPr>
              <a:t>herramientas.coeficiente_determinacion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y_test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y_pred_reg</a:t>
            </a:r>
            <a:r>
              <a:rPr lang="es-AR" sz="1100" dirty="0">
                <a:latin typeface="Consolas" panose="020B0609020204030204" pitchFamily="49" charset="0"/>
              </a:rPr>
              <a:t>)</a:t>
            </a:r>
          </a:p>
          <a:p>
            <a:br>
              <a:rPr lang="es-AR" sz="1100" dirty="0">
                <a:latin typeface="Consolas" panose="020B0609020204030204" pitchFamily="49" charset="0"/>
              </a:rPr>
            </a:br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s-AR" sz="1100" dirty="0">
                <a:latin typeface="Consolas" panose="020B0609020204030204" pitchFamily="49" charset="0"/>
              </a:rPr>
              <a:t>("\</a:t>
            </a:r>
            <a:r>
              <a:rPr lang="es-AR" sz="1100" dirty="0" err="1">
                <a:latin typeface="Consolas" panose="020B0609020204030204" pitchFamily="49" charset="0"/>
              </a:rPr>
              <a:t>nRegresión</a:t>
            </a:r>
            <a:r>
              <a:rPr lang="es-AR" sz="1100" dirty="0">
                <a:latin typeface="Consolas" panose="020B0609020204030204" pitchFamily="49" charset="0"/>
              </a:rPr>
              <a:t> lineal múltiple")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f"Calificacion</a:t>
            </a:r>
            <a:r>
              <a:rPr lang="es-AR" sz="1100" dirty="0">
                <a:latin typeface="Consolas" panose="020B0609020204030204" pitchFamily="49" charset="0"/>
              </a:rPr>
              <a:t> = {beta[0]:.4f} + {beta[1]:.4f}*</a:t>
            </a:r>
            <a:r>
              <a:rPr lang="es-AR" sz="1100" dirty="0" err="1">
                <a:latin typeface="Consolas" panose="020B0609020204030204" pitchFamily="49" charset="0"/>
              </a:rPr>
              <a:t>Horas_estudio</a:t>
            </a:r>
            <a:r>
              <a:rPr lang="es-AR" sz="1100" dirty="0">
                <a:latin typeface="Consolas" panose="020B0609020204030204" pitchFamily="49" charset="0"/>
              </a:rPr>
              <a:t> + {beta[2]:.4f}*</a:t>
            </a:r>
            <a:r>
              <a:rPr lang="es-AR" sz="1100" dirty="0" err="1">
                <a:latin typeface="Consolas" panose="020B0609020204030204" pitchFamily="49" charset="0"/>
              </a:rPr>
              <a:t>Calif_previa</a:t>
            </a:r>
            <a:r>
              <a:rPr lang="es-AR" sz="1100" dirty="0">
                <a:latin typeface="Consolas" panose="020B0609020204030204" pitchFamily="49" charset="0"/>
              </a:rPr>
              <a:t> + {beta[3]:.4f}*Asistencia")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s-AR" sz="1100" dirty="0">
                <a:latin typeface="Consolas" panose="020B0609020204030204" pitchFamily="49" charset="0"/>
              </a:rPr>
              <a:t>("R^2 (conjunto de prueba):", r2)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371600"/>
            <a:ext cx="4114800" cy="31293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B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ctr">
              <a:spcAft>
                <a:spcPts val="800"/>
              </a:spcAft>
              <a:defRPr sz="1200" b="1">
                <a:solidFill>
                  <a:srgbClr val="A61C28"/>
                </a:solidFill>
                <a:latin typeface="Arial"/>
              </a:defRPr>
            </a:pPr>
            <a:r>
              <a:rPr sz="1400" dirty="0"/>
              <a:t>NOTAS TÉCNICAS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sz="1200" dirty="0"/>
              <a:t>• </a:t>
            </a:r>
            <a:r>
              <a:rPr lang="es-MX" sz="1200" dirty="0"/>
              <a:t>Creamos una lista con los nombres de las columnas que queremos usar para predecir la nota</a:t>
            </a:r>
            <a:r>
              <a:rPr sz="1200" dirty="0"/>
              <a:t>.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sz="1200" dirty="0"/>
              <a:t>• </a:t>
            </a:r>
            <a:r>
              <a:rPr lang="es-MX" sz="1200" dirty="0"/>
              <a:t>Separación en vectores independientes para entrenamiento y prueba 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AR" sz="1200" dirty="0"/>
              <a:t>• Calculamos los coeficientes (</a:t>
            </a:r>
            <a:r>
              <a:rPr lang="el-GR" sz="1200" dirty="0"/>
              <a:t>β</a:t>
            </a:r>
            <a:r>
              <a:rPr lang="es-AR" sz="1200" dirty="0"/>
              <a:t>) </a:t>
            </a:r>
            <a:r>
              <a:rPr lang="es-MX" sz="1200" dirty="0"/>
              <a:t>mediante el método de mínimos cuadrados ordinarios para minimizar el error de predicción.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AR" sz="1200" dirty="0"/>
              <a:t>• El valor de R^2 </a:t>
            </a:r>
            <a:r>
              <a:rPr lang="es-MX" sz="1200" dirty="0"/>
              <a:t>determina qué porcentaje de la variabilidad de las notas logramos explicar con el modelo.</a:t>
            </a:r>
            <a:endParaRPr sz="12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23ADF65-19F7-4B3E-BA91-2F15A6E84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335480"/>
            <a:ext cx="6858000" cy="56695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922A8E0B-BC8B-7CC8-4D82-2C8DA0801ED4}"/>
              </a:ext>
            </a:extLst>
          </p:cNvPr>
          <p:cNvSpPr/>
          <p:nvPr/>
        </p:nvSpPr>
        <p:spPr>
          <a:xfrm>
            <a:off x="3726402" y="4927106"/>
            <a:ext cx="319596" cy="268105"/>
          </a:xfrm>
          <a:prstGeom prst="downArrow">
            <a:avLst/>
          </a:prstGeom>
          <a:solidFill>
            <a:srgbClr val="A61C28"/>
          </a:solidFill>
          <a:ln>
            <a:solidFill>
              <a:srgbClr val="A6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9C19C-2924-1778-B260-BEEB7FF1C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75F0BA-1164-DE3A-CBD1-98EDDA4DC5DD}"/>
              </a:ext>
            </a:extLst>
          </p:cNvPr>
          <p:cNvSpPr/>
          <p:nvPr/>
        </p:nvSpPr>
        <p:spPr>
          <a:xfrm>
            <a:off x="11704320" y="6400800"/>
            <a:ext cx="487375" cy="457200"/>
          </a:xfrm>
          <a:prstGeom prst="rect">
            <a:avLst/>
          </a:prstGeom>
          <a:solidFill>
            <a:srgbClr val="BEB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C407F7-4C6C-3534-E94E-2271500D64A7}"/>
              </a:ext>
            </a:extLst>
          </p:cNvPr>
          <p:cNvSpPr/>
          <p:nvPr/>
        </p:nvSpPr>
        <p:spPr>
          <a:xfrm>
            <a:off x="11430000" y="6583680"/>
            <a:ext cx="761695" cy="274320"/>
          </a:xfrm>
          <a:prstGeom prst="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9492CC-DDC6-CB67-3808-388682952612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70935AD-C567-2606-65B3-DB7A7AA81243}"/>
              </a:ext>
            </a:extLst>
          </p:cNvPr>
          <p:cNvSpPr/>
          <p:nvPr/>
        </p:nvSpPr>
        <p:spPr>
          <a:xfrm>
            <a:off x="9418320" y="320040"/>
            <a:ext cx="2286000" cy="365760"/>
          </a:xfrm>
          <a:prstGeom prst="round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/>
              <a:t>EJERCICIO 1</a:t>
            </a:r>
            <a:r>
              <a:rPr lang="es-AR" dirty="0"/>
              <a:t>.3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20A4CD-6745-B360-569B-F4494C87BAF9}"/>
              </a:ext>
            </a:extLst>
          </p:cNvPr>
          <p:cNvSpPr/>
          <p:nvPr/>
        </p:nvSpPr>
        <p:spPr>
          <a:xfrm>
            <a:off x="457200" y="1371600"/>
            <a:ext cx="6858000" cy="3298054"/>
          </a:xfrm>
          <a:prstGeom prst="rect">
            <a:avLst/>
          </a:prstGeom>
          <a:solidFill>
            <a:srgbClr val="1E1E1E"/>
          </a:solidFill>
          <a:ln w="127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r>
              <a:rPr lang="es-AR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y_train_bin</a:t>
            </a:r>
            <a:r>
              <a:rPr lang="es-AR" sz="12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latin typeface="Consolas" panose="020B0609020204030204" pitchFamily="49" charset="0"/>
              </a:rPr>
              <a:t>= </a:t>
            </a:r>
            <a:r>
              <a:rPr lang="es-AR" sz="1200" dirty="0" err="1">
                <a:latin typeface="Consolas" panose="020B0609020204030204" pitchFamily="49" charset="0"/>
              </a:rPr>
              <a:t>df_train</a:t>
            </a:r>
            <a:r>
              <a:rPr lang="es-AR" sz="1200" dirty="0">
                <a:latin typeface="Consolas" panose="020B0609020204030204" pitchFamily="49" charset="0"/>
              </a:rPr>
              <a:t>["</a:t>
            </a:r>
            <a:r>
              <a:rPr lang="es-AR" sz="1200" dirty="0" err="1">
                <a:latin typeface="Consolas" panose="020B0609020204030204" pitchFamily="49" charset="0"/>
              </a:rPr>
              <a:t>Condicion_bin</a:t>
            </a:r>
            <a:r>
              <a:rPr lang="es-AR" sz="1200" dirty="0">
                <a:latin typeface="Consolas" panose="020B0609020204030204" pitchFamily="49" charset="0"/>
              </a:rPr>
              <a:t>"].</a:t>
            </a:r>
            <a:r>
              <a:rPr lang="es-AR" sz="1200" dirty="0" err="1">
                <a:latin typeface="Consolas" panose="020B0609020204030204" pitchFamily="49" charset="0"/>
              </a:rPr>
              <a:t>values</a:t>
            </a:r>
            <a:endParaRPr lang="es-AR" sz="1200" dirty="0">
              <a:latin typeface="Consolas" panose="020B0609020204030204" pitchFamily="49" charset="0"/>
            </a:endParaRPr>
          </a:p>
          <a:p>
            <a:r>
              <a:rPr lang="es-AR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y_test_bin</a:t>
            </a:r>
            <a:r>
              <a:rPr lang="es-AR" sz="12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latin typeface="Consolas" panose="020B0609020204030204" pitchFamily="49" charset="0"/>
              </a:rPr>
              <a:t>= </a:t>
            </a:r>
            <a:r>
              <a:rPr lang="es-AR" sz="1200" dirty="0" err="1">
                <a:latin typeface="Consolas" panose="020B0609020204030204" pitchFamily="49" charset="0"/>
              </a:rPr>
              <a:t>df_test</a:t>
            </a:r>
            <a:r>
              <a:rPr lang="es-AR" sz="1200" dirty="0">
                <a:latin typeface="Consolas" panose="020B0609020204030204" pitchFamily="49" charset="0"/>
              </a:rPr>
              <a:t>["</a:t>
            </a:r>
            <a:r>
              <a:rPr lang="es-AR" sz="1200" dirty="0" err="1">
                <a:latin typeface="Consolas" panose="020B0609020204030204" pitchFamily="49" charset="0"/>
              </a:rPr>
              <a:t>Condicion_bin</a:t>
            </a:r>
            <a:r>
              <a:rPr lang="es-AR" sz="1200" dirty="0">
                <a:latin typeface="Consolas" panose="020B0609020204030204" pitchFamily="49" charset="0"/>
              </a:rPr>
              <a:t>"].</a:t>
            </a:r>
            <a:r>
              <a:rPr lang="es-AR" sz="1200" dirty="0" err="1">
                <a:latin typeface="Consolas" panose="020B0609020204030204" pitchFamily="49" charset="0"/>
              </a:rPr>
              <a:t>values</a:t>
            </a:r>
            <a:endParaRPr lang="es-AR" sz="1200" dirty="0">
              <a:latin typeface="Consolas" panose="020B0609020204030204" pitchFamily="49" charset="0"/>
            </a:endParaRPr>
          </a:p>
          <a:p>
            <a:endParaRPr lang="es-AR" sz="1200" dirty="0">
              <a:latin typeface="Consolas" panose="020B0609020204030204" pitchFamily="49" charset="0"/>
            </a:endParaRPr>
          </a:p>
          <a:p>
            <a:r>
              <a:rPr lang="es-AR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modelo_logistico</a:t>
            </a:r>
            <a:r>
              <a:rPr lang="es-AR" sz="12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latin typeface="Consolas" panose="020B0609020204030204" pitchFamily="49" charset="0"/>
              </a:rPr>
              <a:t>= </a:t>
            </a:r>
            <a:r>
              <a:rPr lang="es-AR" sz="1200" dirty="0" err="1">
                <a:latin typeface="Consolas" panose="020B0609020204030204" pitchFamily="49" charset="0"/>
              </a:rPr>
              <a:t>LogisticRegression</a:t>
            </a:r>
            <a:r>
              <a:rPr lang="es-AR" sz="1200" dirty="0">
                <a:latin typeface="Consolas" panose="020B0609020204030204" pitchFamily="49" charset="0"/>
              </a:rPr>
              <a:t>()</a:t>
            </a:r>
          </a:p>
          <a:p>
            <a:r>
              <a:rPr lang="es-AR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modelo_logistico.fit</a:t>
            </a:r>
            <a:r>
              <a:rPr lang="es-AR" sz="1200" dirty="0">
                <a:latin typeface="Consolas" panose="020B0609020204030204" pitchFamily="49" charset="0"/>
              </a:rPr>
              <a:t>(</a:t>
            </a:r>
            <a:r>
              <a:rPr lang="es-AR" sz="1200" dirty="0" err="1">
                <a:latin typeface="Consolas" panose="020B0609020204030204" pitchFamily="49" charset="0"/>
              </a:rPr>
              <a:t>X_train</a:t>
            </a:r>
            <a:r>
              <a:rPr lang="es-AR" sz="1200" dirty="0">
                <a:latin typeface="Consolas" panose="020B0609020204030204" pitchFamily="49" charset="0"/>
              </a:rPr>
              <a:t>, </a:t>
            </a:r>
            <a:r>
              <a:rPr lang="es-AR" sz="1200" dirty="0" err="1">
                <a:latin typeface="Consolas" panose="020B0609020204030204" pitchFamily="49" charset="0"/>
              </a:rPr>
              <a:t>y_train_bin</a:t>
            </a:r>
            <a:r>
              <a:rPr lang="es-AR" sz="1200" dirty="0">
                <a:latin typeface="Consolas" panose="020B0609020204030204" pitchFamily="49" charset="0"/>
              </a:rPr>
              <a:t>)</a:t>
            </a:r>
          </a:p>
          <a:p>
            <a:br>
              <a:rPr lang="es-AR" sz="1200" dirty="0">
                <a:latin typeface="Consolas" panose="020B0609020204030204" pitchFamily="49" charset="0"/>
              </a:rPr>
            </a:br>
            <a:endParaRPr lang="es-AR" sz="1200" dirty="0">
              <a:latin typeface="Consolas" panose="020B0609020204030204" pitchFamily="49" charset="0"/>
            </a:endParaRPr>
          </a:p>
          <a:p>
            <a:r>
              <a:rPr lang="es-AR" sz="1200" dirty="0">
                <a:solidFill>
                  <a:srgbClr val="FFFF00"/>
                </a:solidFill>
                <a:latin typeface="Consolas" panose="020B0609020204030204" pitchFamily="49" charset="0"/>
              </a:rPr>
              <a:t>beta0</a:t>
            </a:r>
            <a:r>
              <a:rPr lang="es-AR" sz="1200" dirty="0">
                <a:latin typeface="Consolas" panose="020B0609020204030204" pitchFamily="49" charset="0"/>
              </a:rPr>
              <a:t> = </a:t>
            </a:r>
            <a:r>
              <a:rPr lang="es-AR" sz="1200" dirty="0" err="1">
                <a:latin typeface="Consolas" panose="020B0609020204030204" pitchFamily="49" charset="0"/>
              </a:rPr>
              <a:t>modelo_logistico.intercept</a:t>
            </a:r>
            <a:r>
              <a:rPr lang="es-AR" sz="1200" dirty="0">
                <a:latin typeface="Consolas" panose="020B0609020204030204" pitchFamily="49" charset="0"/>
              </a:rPr>
              <a:t>_[0]</a:t>
            </a:r>
          </a:p>
          <a:p>
            <a:r>
              <a:rPr lang="es-AR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beta_log</a:t>
            </a:r>
            <a:r>
              <a:rPr lang="es-AR" sz="12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latin typeface="Consolas" panose="020B0609020204030204" pitchFamily="49" charset="0"/>
              </a:rPr>
              <a:t>= </a:t>
            </a:r>
            <a:r>
              <a:rPr lang="es-AR" sz="1200" dirty="0" err="1">
                <a:latin typeface="Consolas" panose="020B0609020204030204" pitchFamily="49" charset="0"/>
              </a:rPr>
              <a:t>modelo_logistico.coef</a:t>
            </a:r>
            <a:r>
              <a:rPr lang="es-AR" sz="1200" dirty="0">
                <a:latin typeface="Consolas" panose="020B0609020204030204" pitchFamily="49" charset="0"/>
              </a:rPr>
              <a:t>_[0]  </a:t>
            </a:r>
          </a:p>
          <a:p>
            <a:br>
              <a:rPr lang="es-AR" sz="1200" dirty="0">
                <a:latin typeface="Consolas" panose="020B0609020204030204" pitchFamily="49" charset="0"/>
              </a:rPr>
            </a:br>
            <a:endParaRPr lang="es-AR" sz="1200" dirty="0">
              <a:latin typeface="Consolas" panose="020B0609020204030204" pitchFamily="49" charset="0"/>
            </a:endParaRPr>
          </a:p>
          <a:p>
            <a:r>
              <a:rPr lang="es-AR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s-AR" sz="1200" dirty="0">
                <a:latin typeface="Consolas" panose="020B0609020204030204" pitchFamily="49" charset="0"/>
              </a:rPr>
              <a:t>("\</a:t>
            </a:r>
            <a:r>
              <a:rPr lang="es-AR" sz="1200" dirty="0" err="1">
                <a:latin typeface="Consolas" panose="020B0609020204030204" pitchFamily="49" charset="0"/>
              </a:rPr>
              <a:t>nRegresión</a:t>
            </a:r>
            <a:r>
              <a:rPr lang="es-AR" sz="1200" dirty="0">
                <a:latin typeface="Consolas" panose="020B0609020204030204" pitchFamily="49" charset="0"/>
              </a:rPr>
              <a:t> logística")</a:t>
            </a:r>
          </a:p>
          <a:p>
            <a:endParaRPr lang="es-AR" sz="1200" dirty="0">
              <a:latin typeface="Consolas" panose="020B0609020204030204" pitchFamily="49" charset="0"/>
            </a:endParaRPr>
          </a:p>
          <a:p>
            <a:r>
              <a:rPr lang="es-AR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s-AR" sz="1200" dirty="0">
                <a:latin typeface="Consolas" panose="020B0609020204030204" pitchFamily="49" charset="0"/>
              </a:rPr>
              <a:t>(</a:t>
            </a:r>
            <a:r>
              <a:rPr lang="es-AR" sz="1200" dirty="0" err="1">
                <a:latin typeface="Consolas" panose="020B0609020204030204" pitchFamily="49" charset="0"/>
              </a:rPr>
              <a:t>f"p</a:t>
            </a:r>
            <a:r>
              <a:rPr lang="es-AR" sz="1200" dirty="0">
                <a:latin typeface="Consolas" panose="020B0609020204030204" pitchFamily="49" charset="0"/>
              </a:rPr>
              <a:t>(x) = </a:t>
            </a:r>
            <a:r>
              <a:rPr lang="es-AR" sz="1200" dirty="0" err="1">
                <a:latin typeface="Consolas" panose="020B0609020204030204" pitchFamily="49" charset="0"/>
              </a:rPr>
              <a:t>exp</a:t>
            </a:r>
            <a:r>
              <a:rPr lang="es-AR" sz="1200" dirty="0">
                <a:latin typeface="Consolas" panose="020B0609020204030204" pitchFamily="49" charset="0"/>
              </a:rPr>
              <a:t>({beta0:.4f} + {</a:t>
            </a:r>
            <a:r>
              <a:rPr lang="es-AR" sz="1200" dirty="0" err="1">
                <a:latin typeface="Consolas" panose="020B0609020204030204" pitchFamily="49" charset="0"/>
              </a:rPr>
              <a:t>beta_log</a:t>
            </a:r>
            <a:r>
              <a:rPr lang="es-AR" sz="1200" dirty="0">
                <a:latin typeface="Consolas" panose="020B0609020204030204" pitchFamily="49" charset="0"/>
              </a:rPr>
              <a:t>[0]:.4f}*</a:t>
            </a:r>
            <a:r>
              <a:rPr lang="es-AR" sz="1200" dirty="0" err="1">
                <a:latin typeface="Consolas" panose="020B0609020204030204" pitchFamily="49" charset="0"/>
              </a:rPr>
              <a:t>Horas_estudio</a:t>
            </a:r>
            <a:r>
              <a:rPr lang="es-AR" sz="1200" dirty="0">
                <a:latin typeface="Consolas" panose="020B0609020204030204" pitchFamily="49" charset="0"/>
              </a:rPr>
              <a:t> + {</a:t>
            </a:r>
            <a:r>
              <a:rPr lang="es-AR" sz="1200" dirty="0" err="1">
                <a:latin typeface="Consolas" panose="020B0609020204030204" pitchFamily="49" charset="0"/>
              </a:rPr>
              <a:t>beta_log</a:t>
            </a:r>
            <a:r>
              <a:rPr lang="es-AR" sz="1200" dirty="0">
                <a:latin typeface="Consolas" panose="020B0609020204030204" pitchFamily="49" charset="0"/>
              </a:rPr>
              <a:t>[1]:.4f}*</a:t>
            </a:r>
            <a:r>
              <a:rPr lang="es-AR" sz="1200" dirty="0" err="1">
                <a:latin typeface="Consolas" panose="020B0609020204030204" pitchFamily="49" charset="0"/>
              </a:rPr>
              <a:t>Calif_previa</a:t>
            </a:r>
            <a:r>
              <a:rPr lang="es-AR" sz="1200" dirty="0">
                <a:latin typeface="Consolas" panose="020B0609020204030204" pitchFamily="49" charset="0"/>
              </a:rPr>
              <a:t> + {</a:t>
            </a:r>
            <a:r>
              <a:rPr lang="es-AR" sz="1200" dirty="0" err="1">
                <a:latin typeface="Consolas" panose="020B0609020204030204" pitchFamily="49" charset="0"/>
              </a:rPr>
              <a:t>beta_log</a:t>
            </a:r>
            <a:r>
              <a:rPr lang="es-AR" sz="1200" dirty="0">
                <a:latin typeface="Consolas" panose="020B0609020204030204" pitchFamily="49" charset="0"/>
              </a:rPr>
              <a:t>[2]:.4f}*Asistencia)"</a:t>
            </a:r>
          </a:p>
          <a:p>
            <a:r>
              <a:rPr lang="es-AR" sz="1200" dirty="0">
                <a:latin typeface="Consolas" panose="020B0609020204030204" pitchFamily="49" charset="0"/>
              </a:rPr>
              <a:t>      " / (1 + </a:t>
            </a:r>
            <a:r>
              <a:rPr lang="es-AR" sz="1200" dirty="0" err="1">
                <a:latin typeface="Consolas" panose="020B0609020204030204" pitchFamily="49" charset="0"/>
              </a:rPr>
              <a:t>exp</a:t>
            </a:r>
            <a:r>
              <a:rPr lang="es-AR" sz="1200" dirty="0">
                <a:latin typeface="Consolas" panose="020B0609020204030204" pitchFamily="49" charset="0"/>
              </a:rPr>
              <a:t>(...))")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E84B504-B34C-34F5-9816-04DF083A6DBC}"/>
              </a:ext>
            </a:extLst>
          </p:cNvPr>
          <p:cNvSpPr/>
          <p:nvPr/>
        </p:nvSpPr>
        <p:spPr>
          <a:xfrm>
            <a:off x="7589520" y="1371600"/>
            <a:ext cx="4114800" cy="300509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B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ctr">
              <a:spcAft>
                <a:spcPts val="800"/>
              </a:spcAft>
              <a:defRPr sz="1200" b="1">
                <a:solidFill>
                  <a:srgbClr val="A61C28"/>
                </a:solidFill>
                <a:latin typeface="Arial"/>
              </a:defRPr>
            </a:pPr>
            <a:r>
              <a:rPr sz="1400" dirty="0"/>
              <a:t>NOTAS TÉCNICAS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sz="1200" dirty="0"/>
              <a:t>• </a:t>
            </a:r>
            <a:r>
              <a:rPr lang="es-MX" sz="1200" dirty="0"/>
              <a:t>Extraemos de las etiquetas reales en formato binario (0 y 1) para los conjuntos de entrenamiento y prueba</a:t>
            </a:r>
            <a:r>
              <a:rPr sz="1200" dirty="0"/>
              <a:t>.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sz="1200" dirty="0"/>
              <a:t>• </a:t>
            </a:r>
            <a:r>
              <a:rPr lang="es-MX" sz="1200" dirty="0"/>
              <a:t>Obtenemos de la ordenada al origen (</a:t>
            </a:r>
            <a:r>
              <a:rPr lang="el-GR" sz="1200" dirty="0"/>
              <a:t>β</a:t>
            </a:r>
            <a:r>
              <a:rPr lang="es-AR" sz="1200" dirty="0"/>
              <a:t>0</a:t>
            </a:r>
            <a:r>
              <a:rPr lang="es-MX" sz="1200" dirty="0"/>
              <a:t>) y las pendientes (</a:t>
            </a:r>
            <a:r>
              <a:rPr lang="el-GR" sz="1200" dirty="0"/>
              <a:t>β</a:t>
            </a:r>
            <a:r>
              <a:rPr lang="es-MX" sz="1200" dirty="0"/>
              <a:t>) para estructurar la función sigmoide que estima la probabilidad de aprobación.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sz="1200" dirty="0"/>
              <a:t>• </a:t>
            </a:r>
            <a:r>
              <a:rPr lang="es-MX" sz="1200" dirty="0"/>
              <a:t>La salida del modelo se transforma a través de la curva logística para garantizar que las predicciones se mantengan estrictamente en el rango de 0 a 1</a:t>
            </a:r>
            <a:r>
              <a:rPr sz="1200" dirty="0"/>
              <a:t>.</a:t>
            </a:r>
            <a:endParaRPr lang="es-AR" sz="1200" dirty="0"/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endParaRPr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74CA9CD-BB82-5000-293E-D2AB00B09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18" y="5079514"/>
            <a:ext cx="6969563" cy="40688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6E680D59-3307-054A-76BA-691661263434}"/>
              </a:ext>
            </a:extLst>
          </p:cNvPr>
          <p:cNvSpPr/>
          <p:nvPr/>
        </p:nvSpPr>
        <p:spPr>
          <a:xfrm>
            <a:off x="3886200" y="4740676"/>
            <a:ext cx="312938" cy="294738"/>
          </a:xfrm>
          <a:prstGeom prst="downArrow">
            <a:avLst/>
          </a:prstGeom>
          <a:solidFill>
            <a:srgbClr val="A61C28"/>
          </a:solidFill>
          <a:ln>
            <a:solidFill>
              <a:srgbClr val="A6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9753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1DF425-A613-2FF4-F08C-9CAED1520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2B4824-5558-D61B-A796-0381E3B82700}"/>
              </a:ext>
            </a:extLst>
          </p:cNvPr>
          <p:cNvSpPr/>
          <p:nvPr/>
        </p:nvSpPr>
        <p:spPr>
          <a:xfrm>
            <a:off x="11704320" y="6400800"/>
            <a:ext cx="487375" cy="457200"/>
          </a:xfrm>
          <a:prstGeom prst="rect">
            <a:avLst/>
          </a:prstGeom>
          <a:solidFill>
            <a:srgbClr val="BEB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3B299A-307B-7CE5-FC13-5EED7EBFF592}"/>
              </a:ext>
            </a:extLst>
          </p:cNvPr>
          <p:cNvSpPr/>
          <p:nvPr/>
        </p:nvSpPr>
        <p:spPr>
          <a:xfrm>
            <a:off x="11430000" y="6583680"/>
            <a:ext cx="761695" cy="274320"/>
          </a:xfrm>
          <a:prstGeom prst="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12D00C-496D-53C5-5251-EDAE8867D3E9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3B0F6D9-40E4-AE61-B542-748B450C40E3}"/>
              </a:ext>
            </a:extLst>
          </p:cNvPr>
          <p:cNvSpPr/>
          <p:nvPr/>
        </p:nvSpPr>
        <p:spPr>
          <a:xfrm>
            <a:off x="9418320" y="320040"/>
            <a:ext cx="2286000" cy="365760"/>
          </a:xfrm>
          <a:prstGeom prst="round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/>
              <a:t>EJERCICIO 1</a:t>
            </a:r>
            <a:r>
              <a:rPr lang="es-AR" dirty="0"/>
              <a:t>.3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581250-BF4E-2A5E-62E0-29071E268F31}"/>
              </a:ext>
            </a:extLst>
          </p:cNvPr>
          <p:cNvSpPr/>
          <p:nvPr/>
        </p:nvSpPr>
        <p:spPr>
          <a:xfrm>
            <a:off x="441664" y="932688"/>
            <a:ext cx="6858000" cy="1806606"/>
          </a:xfrm>
          <a:prstGeom prst="rect">
            <a:avLst/>
          </a:prstGeom>
          <a:solidFill>
            <a:srgbClr val="1E1E1E"/>
          </a:solidFill>
          <a:ln w="127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r>
              <a:rPr lang="es-AR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y_pred_log</a:t>
            </a:r>
            <a:r>
              <a:rPr lang="es-AR" sz="12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latin typeface="Consolas" panose="020B0609020204030204" pitchFamily="49" charset="0"/>
              </a:rPr>
              <a:t>= </a:t>
            </a:r>
            <a:r>
              <a:rPr lang="es-AR" sz="1200" dirty="0" err="1">
                <a:latin typeface="Consolas" panose="020B0609020204030204" pitchFamily="49" charset="0"/>
              </a:rPr>
              <a:t>modelo_logistico.predict</a:t>
            </a:r>
            <a:r>
              <a:rPr lang="es-AR" sz="1200" dirty="0">
                <a:latin typeface="Consolas" panose="020B0609020204030204" pitchFamily="49" charset="0"/>
              </a:rPr>
              <a:t>(</a:t>
            </a:r>
            <a:r>
              <a:rPr lang="es-AR" sz="1200" dirty="0" err="1">
                <a:latin typeface="Consolas" panose="020B0609020204030204" pitchFamily="49" charset="0"/>
              </a:rPr>
              <a:t>X_test</a:t>
            </a:r>
            <a:r>
              <a:rPr lang="es-AR" sz="1200" dirty="0">
                <a:latin typeface="Consolas" panose="020B0609020204030204" pitchFamily="49" charset="0"/>
              </a:rPr>
              <a:t>)</a:t>
            </a:r>
          </a:p>
          <a:p>
            <a:endParaRPr lang="es-AR" sz="1200" dirty="0">
              <a:latin typeface="Consolas" panose="020B0609020204030204" pitchFamily="49" charset="0"/>
            </a:endParaRPr>
          </a:p>
          <a:p>
            <a:r>
              <a:rPr lang="es-AR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resultado_log</a:t>
            </a:r>
            <a:r>
              <a:rPr lang="es-AR" sz="12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200" dirty="0">
                <a:latin typeface="Consolas" panose="020B0609020204030204" pitchFamily="49" charset="0"/>
              </a:rPr>
              <a:t>= </a:t>
            </a:r>
            <a:r>
              <a:rPr lang="es-AR" sz="1200" dirty="0" err="1">
                <a:latin typeface="Consolas" panose="020B0609020204030204" pitchFamily="49" charset="0"/>
              </a:rPr>
              <a:t>herramientas.evaluar_clasificacion</a:t>
            </a:r>
            <a:r>
              <a:rPr lang="es-AR" sz="1200" dirty="0">
                <a:latin typeface="Consolas" panose="020B0609020204030204" pitchFamily="49" charset="0"/>
              </a:rPr>
              <a:t>(</a:t>
            </a:r>
            <a:r>
              <a:rPr lang="es-AR" sz="1200" dirty="0" err="1">
                <a:latin typeface="Consolas" panose="020B0609020204030204" pitchFamily="49" charset="0"/>
              </a:rPr>
              <a:t>y_test_bin</a:t>
            </a:r>
            <a:r>
              <a:rPr lang="es-AR" sz="1200" dirty="0">
                <a:latin typeface="Consolas" panose="020B0609020204030204" pitchFamily="49" charset="0"/>
              </a:rPr>
              <a:t>, </a:t>
            </a:r>
            <a:r>
              <a:rPr lang="es-AR" sz="1200" dirty="0" err="1">
                <a:latin typeface="Consolas" panose="020B0609020204030204" pitchFamily="49" charset="0"/>
              </a:rPr>
              <a:t>y_pred_log</a:t>
            </a:r>
            <a:r>
              <a:rPr lang="es-AR" sz="1200" dirty="0">
                <a:latin typeface="Consolas" panose="020B0609020204030204" pitchFamily="49" charset="0"/>
              </a:rPr>
              <a:t>)</a:t>
            </a:r>
          </a:p>
          <a:p>
            <a:endParaRPr lang="es-AR" sz="1200" dirty="0">
              <a:latin typeface="Consolas" panose="020B0609020204030204" pitchFamily="49" charset="0"/>
            </a:endParaRPr>
          </a:p>
          <a:p>
            <a:r>
              <a:rPr lang="es-AR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s-AR" sz="1200" dirty="0">
                <a:latin typeface="Consolas" panose="020B0609020204030204" pitchFamily="49" charset="0"/>
              </a:rPr>
              <a:t>("Matriz de confusión:", </a:t>
            </a:r>
            <a:r>
              <a:rPr lang="es-AR" sz="1200" dirty="0" err="1">
                <a:latin typeface="Consolas" panose="020B0609020204030204" pitchFamily="49" charset="0"/>
              </a:rPr>
              <a:t>resultado_log</a:t>
            </a:r>
            <a:r>
              <a:rPr lang="es-AR" sz="1200" dirty="0">
                <a:latin typeface="Consolas" panose="020B0609020204030204" pitchFamily="49" charset="0"/>
              </a:rPr>
              <a:t>["</a:t>
            </a:r>
            <a:r>
              <a:rPr lang="es-AR" sz="1200" dirty="0" err="1">
                <a:latin typeface="Consolas" panose="020B0609020204030204" pitchFamily="49" charset="0"/>
              </a:rPr>
              <a:t>matriz_confusion</a:t>
            </a:r>
            <a:r>
              <a:rPr lang="es-AR" sz="1200" dirty="0">
                <a:latin typeface="Consolas" panose="020B0609020204030204" pitchFamily="49" charset="0"/>
              </a:rPr>
              <a:t>"])</a:t>
            </a:r>
          </a:p>
          <a:p>
            <a:endParaRPr lang="es-AR" sz="1200" dirty="0">
              <a:latin typeface="Consolas" panose="020B0609020204030204" pitchFamily="49" charset="0"/>
            </a:endParaRPr>
          </a:p>
          <a:p>
            <a:r>
              <a:rPr lang="es-AR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s-AR" sz="1200" dirty="0">
                <a:latin typeface="Consolas" panose="020B0609020204030204" pitchFamily="49" charset="0"/>
              </a:rPr>
              <a:t>("</a:t>
            </a:r>
            <a:r>
              <a:rPr lang="es-AR" sz="1200" dirty="0" err="1">
                <a:latin typeface="Consolas" panose="020B0609020204030204" pitchFamily="49" charset="0"/>
              </a:rPr>
              <a:t>Accuracy</a:t>
            </a:r>
            <a:r>
              <a:rPr lang="es-AR" sz="1200" dirty="0">
                <a:latin typeface="Consolas" panose="020B0609020204030204" pitchFamily="49" charset="0"/>
              </a:rPr>
              <a:t>:", </a:t>
            </a:r>
            <a:r>
              <a:rPr lang="es-AR" sz="1200" dirty="0" err="1">
                <a:latin typeface="Consolas" panose="020B0609020204030204" pitchFamily="49" charset="0"/>
              </a:rPr>
              <a:t>resultado_log</a:t>
            </a:r>
            <a:r>
              <a:rPr lang="es-AR" sz="1200" dirty="0">
                <a:latin typeface="Consolas" panose="020B0609020204030204" pitchFamily="49" charset="0"/>
              </a:rPr>
              <a:t>["</a:t>
            </a:r>
            <a:r>
              <a:rPr lang="es-AR" sz="1200" dirty="0" err="1">
                <a:latin typeface="Consolas" panose="020B0609020204030204" pitchFamily="49" charset="0"/>
              </a:rPr>
              <a:t>accuracy</a:t>
            </a:r>
            <a:r>
              <a:rPr lang="es-AR" sz="1200" dirty="0">
                <a:latin typeface="Consolas" panose="020B0609020204030204" pitchFamily="49" charset="0"/>
              </a:rPr>
              <a:t>"])</a:t>
            </a:r>
          </a:p>
          <a:p>
            <a:r>
              <a:rPr lang="es-AR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s-AR" sz="1200" dirty="0">
                <a:latin typeface="Consolas" panose="020B0609020204030204" pitchFamily="49" charset="0"/>
              </a:rPr>
              <a:t>("F1-score:", </a:t>
            </a:r>
            <a:r>
              <a:rPr lang="es-AR" sz="1200" dirty="0" err="1">
                <a:latin typeface="Consolas" panose="020B0609020204030204" pitchFamily="49" charset="0"/>
              </a:rPr>
              <a:t>resultado_log</a:t>
            </a:r>
            <a:r>
              <a:rPr lang="es-AR" sz="1200" dirty="0">
                <a:latin typeface="Consolas" panose="020B0609020204030204" pitchFamily="49" charset="0"/>
              </a:rPr>
              <a:t>["f1_score"])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712446E-C5E3-0A35-9EB1-44955DA05539}"/>
              </a:ext>
            </a:extLst>
          </p:cNvPr>
          <p:cNvSpPr/>
          <p:nvPr/>
        </p:nvSpPr>
        <p:spPr>
          <a:xfrm>
            <a:off x="7833207" y="932688"/>
            <a:ext cx="4114800" cy="342908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B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ctr">
              <a:spcAft>
                <a:spcPts val="800"/>
              </a:spcAft>
              <a:defRPr sz="1200" b="1">
                <a:solidFill>
                  <a:srgbClr val="A61C28"/>
                </a:solidFill>
                <a:latin typeface="Arial"/>
              </a:defRPr>
            </a:pPr>
            <a:r>
              <a:rPr sz="1400" dirty="0"/>
              <a:t>NOTAS TÉCNICAS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dirty="0"/>
              <a:t>• </a:t>
            </a:r>
            <a:r>
              <a:rPr lang="es-MX" sz="1050" dirty="0"/>
              <a:t>Generación de las clasificaciones estimadas (Aprobado o No aprobado) sobre el conjunto de prueba (</a:t>
            </a:r>
            <a:r>
              <a:rPr lang="es-MX" sz="1050" dirty="0" err="1"/>
              <a:t>X_test</a:t>
            </a:r>
            <a:r>
              <a:rPr lang="es-MX" sz="1050" dirty="0"/>
              <a:t>), simulando el comportamiento del modelo ante nuevos estudiantes 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dirty="0"/>
              <a:t>• </a:t>
            </a:r>
            <a:r>
              <a:rPr lang="es-MX" sz="1050" b="1" dirty="0"/>
              <a:t>Matriz de Confusión :</a:t>
            </a:r>
            <a:r>
              <a:rPr lang="es-MX" sz="1050" dirty="0"/>
              <a:t> El algoritmo identificó correctamente a 66 estudiantes que desaprobarían (VN) y a 17 que aprobarían (VP), registrando solo 9 falsos positivos y 8 falsos negativos. 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dirty="0"/>
              <a:t>• </a:t>
            </a:r>
            <a:r>
              <a:rPr lang="es-MX" sz="1050" b="1" dirty="0" err="1"/>
              <a:t>Accuracy</a:t>
            </a:r>
            <a:r>
              <a:rPr lang="es-MX" sz="1050" b="1" dirty="0"/>
              <a:t>:</a:t>
            </a:r>
            <a:r>
              <a:rPr lang="es-MX" sz="1050" dirty="0"/>
              <a:t> Un 83% de las predicciones globales fueron correctas, demostrando un alto nivel de acierto general en el set de test.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AR" dirty="0"/>
              <a:t>•</a:t>
            </a:r>
            <a:r>
              <a:rPr lang="es-MX" sz="1050" b="1" dirty="0"/>
              <a:t> F1-Score:</a:t>
            </a:r>
            <a:r>
              <a:rPr lang="es-MX" sz="1050" dirty="0"/>
              <a:t> El valor de 0.667 refleja un rendimiento sólido y equilibrado, mostrando una leve penalización debido a los errores cometidos al predecir la clase “alumnos aprobados”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endParaRPr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746EE18-697E-3EA3-E7E5-38FAAF69C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93" y="3357846"/>
            <a:ext cx="3898292" cy="166950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F8291E72-C684-6BC2-A21F-6C55B610E6AE}"/>
              </a:ext>
            </a:extLst>
          </p:cNvPr>
          <p:cNvSpPr/>
          <p:nvPr/>
        </p:nvSpPr>
        <p:spPr>
          <a:xfrm>
            <a:off x="2006708" y="2791882"/>
            <a:ext cx="372862" cy="403935"/>
          </a:xfrm>
          <a:prstGeom prst="downArrow">
            <a:avLst/>
          </a:prstGeom>
          <a:solidFill>
            <a:srgbClr val="A61C28"/>
          </a:solidFill>
          <a:ln>
            <a:solidFill>
              <a:srgbClr val="A6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0CB941C-2479-A6BC-A431-44ACA2DFC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377" y="3302430"/>
            <a:ext cx="2946295" cy="26364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2DF7F9B-212D-DB59-51AE-C7661D8C58AB}"/>
              </a:ext>
            </a:extLst>
          </p:cNvPr>
          <p:cNvSpPr/>
          <p:nvPr/>
        </p:nvSpPr>
        <p:spPr>
          <a:xfrm>
            <a:off x="6336147" y="5223113"/>
            <a:ext cx="544946" cy="23090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66</a:t>
            </a:r>
            <a:endParaRPr lang="es-AR" dirty="0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6AC292F-3FAF-3F50-08D7-55F9ABDCA3BD}"/>
              </a:ext>
            </a:extLst>
          </p:cNvPr>
          <p:cNvSpPr/>
          <p:nvPr/>
        </p:nvSpPr>
        <p:spPr>
          <a:xfrm>
            <a:off x="6311090" y="4243397"/>
            <a:ext cx="544946" cy="23090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9</a:t>
            </a:r>
            <a:endParaRPr lang="es-AR" dirty="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88BB67AE-9B23-E12C-F42B-9F8FA0205FBD}"/>
              </a:ext>
            </a:extLst>
          </p:cNvPr>
          <p:cNvSpPr/>
          <p:nvPr/>
        </p:nvSpPr>
        <p:spPr>
          <a:xfrm>
            <a:off x="5310909" y="5238674"/>
            <a:ext cx="544946" cy="23090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8</a:t>
            </a:r>
            <a:endParaRPr lang="es-AR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D05C64A8-2131-87F8-E241-92B688FC4794}"/>
              </a:ext>
            </a:extLst>
          </p:cNvPr>
          <p:cNvSpPr/>
          <p:nvPr/>
        </p:nvSpPr>
        <p:spPr>
          <a:xfrm>
            <a:off x="5306125" y="4243396"/>
            <a:ext cx="544946" cy="23090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17</a:t>
            </a:r>
            <a:endParaRPr lang="es-AR" dirty="0"/>
          </a:p>
        </p:txBody>
      </p:sp>
      <p:sp>
        <p:nvSpPr>
          <p:cNvPr id="16" name="Flecha: hacia abajo 15">
            <a:extLst>
              <a:ext uri="{FF2B5EF4-FFF2-40B4-BE49-F238E27FC236}">
                <a16:creationId xmlns:a16="http://schemas.microsoft.com/office/drawing/2014/main" id="{EEFE7B56-B974-31FB-1AE8-8CB310AD4BFA}"/>
              </a:ext>
            </a:extLst>
          </p:cNvPr>
          <p:cNvSpPr/>
          <p:nvPr/>
        </p:nvSpPr>
        <p:spPr>
          <a:xfrm>
            <a:off x="5909416" y="2818894"/>
            <a:ext cx="372862" cy="403935"/>
          </a:xfrm>
          <a:prstGeom prst="downArrow">
            <a:avLst/>
          </a:prstGeom>
          <a:solidFill>
            <a:srgbClr val="A61C28"/>
          </a:solidFill>
          <a:ln>
            <a:solidFill>
              <a:srgbClr val="A6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61645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7BB593-16DD-334B-9D29-1717B9B75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1E9D67-921A-B626-E315-D40A97808A44}"/>
              </a:ext>
            </a:extLst>
          </p:cNvPr>
          <p:cNvSpPr/>
          <p:nvPr/>
        </p:nvSpPr>
        <p:spPr>
          <a:xfrm>
            <a:off x="11704320" y="6400800"/>
            <a:ext cx="487375" cy="457200"/>
          </a:xfrm>
          <a:prstGeom prst="rect">
            <a:avLst/>
          </a:prstGeom>
          <a:solidFill>
            <a:srgbClr val="BEB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EDB17A-00F2-7570-C17E-B924781F40C4}"/>
              </a:ext>
            </a:extLst>
          </p:cNvPr>
          <p:cNvSpPr/>
          <p:nvPr/>
        </p:nvSpPr>
        <p:spPr>
          <a:xfrm>
            <a:off x="11430000" y="6583680"/>
            <a:ext cx="761695" cy="274320"/>
          </a:xfrm>
          <a:prstGeom prst="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92C0CE-5526-4038-3611-4C1C69C28585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0F11016-4127-3DB9-F7B2-9190FF0F317A}"/>
              </a:ext>
            </a:extLst>
          </p:cNvPr>
          <p:cNvSpPr/>
          <p:nvPr/>
        </p:nvSpPr>
        <p:spPr>
          <a:xfrm>
            <a:off x="9418320" y="320040"/>
            <a:ext cx="2286000" cy="365760"/>
          </a:xfrm>
          <a:prstGeom prst="round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/>
              <a:t>EJERCICIO 1</a:t>
            </a:r>
            <a:r>
              <a:rPr lang="es-AR" dirty="0"/>
              <a:t>.4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15A43D-A7C6-1A87-9AD0-BFADD132DF1C}"/>
              </a:ext>
            </a:extLst>
          </p:cNvPr>
          <p:cNvSpPr/>
          <p:nvPr/>
        </p:nvSpPr>
        <p:spPr>
          <a:xfrm>
            <a:off x="457200" y="1371600"/>
            <a:ext cx="6858000" cy="3404586"/>
          </a:xfrm>
          <a:prstGeom prst="rect">
            <a:avLst/>
          </a:prstGeom>
          <a:solidFill>
            <a:srgbClr val="1E1E1E"/>
          </a:solidFill>
          <a:ln w="127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r>
              <a:rPr lang="es-MX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nuevo_alumno</a:t>
            </a:r>
            <a:r>
              <a:rPr lang="es-MX" sz="12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MX" sz="1200" dirty="0">
                <a:latin typeface="Consolas" panose="020B0609020204030204" pitchFamily="49" charset="0"/>
              </a:rPr>
              <a:t>= [[25, 68, 58]]</a:t>
            </a:r>
          </a:p>
          <a:p>
            <a:br>
              <a:rPr lang="es-MX" sz="1200" dirty="0">
                <a:latin typeface="Consolas" panose="020B0609020204030204" pitchFamily="49" charset="0"/>
              </a:rPr>
            </a:br>
            <a:endParaRPr lang="es-MX" sz="1200" dirty="0">
              <a:latin typeface="Consolas" panose="020B0609020204030204" pitchFamily="49" charset="0"/>
            </a:endParaRPr>
          </a:p>
          <a:p>
            <a:r>
              <a:rPr lang="es-MX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calificacion_predicha</a:t>
            </a:r>
            <a:r>
              <a:rPr lang="es-MX" sz="12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MX" sz="1200" dirty="0">
                <a:latin typeface="Consolas" panose="020B0609020204030204" pitchFamily="49" charset="0"/>
              </a:rPr>
              <a:t>= </a:t>
            </a:r>
            <a:r>
              <a:rPr lang="es-MX" sz="1200" dirty="0" err="1">
                <a:latin typeface="Consolas" panose="020B0609020204030204" pitchFamily="49" charset="0"/>
              </a:rPr>
              <a:t>alg.predecir_regresion_lineal</a:t>
            </a:r>
            <a:r>
              <a:rPr lang="es-MX" sz="1200" dirty="0">
                <a:latin typeface="Consolas" panose="020B0609020204030204" pitchFamily="49" charset="0"/>
              </a:rPr>
              <a:t>(beta, </a:t>
            </a:r>
            <a:r>
              <a:rPr lang="es-MX" sz="1200" dirty="0" err="1">
                <a:latin typeface="Consolas" panose="020B0609020204030204" pitchFamily="49" charset="0"/>
              </a:rPr>
              <a:t>nuevo_alumno</a:t>
            </a:r>
            <a:r>
              <a:rPr lang="es-MX" sz="1200" dirty="0">
                <a:latin typeface="Consolas" panose="020B0609020204030204" pitchFamily="49" charset="0"/>
              </a:rPr>
              <a:t>)[0]</a:t>
            </a:r>
          </a:p>
          <a:p>
            <a:r>
              <a:rPr lang="es-MX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condicion_predicha</a:t>
            </a:r>
            <a:r>
              <a:rPr lang="es-MX" sz="12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MX" sz="1200" dirty="0">
                <a:latin typeface="Consolas" panose="020B0609020204030204" pitchFamily="49" charset="0"/>
              </a:rPr>
              <a:t>= </a:t>
            </a:r>
            <a:r>
              <a:rPr lang="es-MX" sz="1200" dirty="0" err="1">
                <a:latin typeface="Consolas" panose="020B0609020204030204" pitchFamily="49" charset="0"/>
              </a:rPr>
              <a:t>modelo_logistico.predict</a:t>
            </a:r>
            <a:r>
              <a:rPr lang="es-MX" sz="1200" dirty="0">
                <a:latin typeface="Consolas" panose="020B0609020204030204" pitchFamily="49" charset="0"/>
              </a:rPr>
              <a:t>(</a:t>
            </a:r>
            <a:r>
              <a:rPr lang="es-MX" sz="1200" dirty="0" err="1">
                <a:latin typeface="Consolas" panose="020B0609020204030204" pitchFamily="49" charset="0"/>
              </a:rPr>
              <a:t>nuevo_alumno</a:t>
            </a:r>
            <a:r>
              <a:rPr lang="es-MX" sz="1200" dirty="0">
                <a:latin typeface="Consolas" panose="020B0609020204030204" pitchFamily="49" charset="0"/>
              </a:rPr>
              <a:t>)[0]</a:t>
            </a:r>
          </a:p>
          <a:p>
            <a:r>
              <a:rPr lang="es-MX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prob_aprobar</a:t>
            </a:r>
            <a:r>
              <a:rPr lang="es-MX" sz="1200" dirty="0">
                <a:latin typeface="Consolas" panose="020B0609020204030204" pitchFamily="49" charset="0"/>
              </a:rPr>
              <a:t> = </a:t>
            </a:r>
            <a:r>
              <a:rPr lang="es-MX" sz="1200" dirty="0" err="1">
                <a:latin typeface="Consolas" panose="020B0609020204030204" pitchFamily="49" charset="0"/>
              </a:rPr>
              <a:t>modelo_logistico.predict_proba</a:t>
            </a:r>
            <a:r>
              <a:rPr lang="es-MX" sz="1200" dirty="0">
                <a:latin typeface="Consolas" panose="020B0609020204030204" pitchFamily="49" charset="0"/>
              </a:rPr>
              <a:t>(</a:t>
            </a:r>
            <a:r>
              <a:rPr lang="es-MX" sz="1200" dirty="0" err="1">
                <a:latin typeface="Consolas" panose="020B0609020204030204" pitchFamily="49" charset="0"/>
              </a:rPr>
              <a:t>nuevo_alumno</a:t>
            </a:r>
            <a:r>
              <a:rPr lang="es-MX" sz="1200" dirty="0">
                <a:latin typeface="Consolas" panose="020B0609020204030204" pitchFamily="49" charset="0"/>
              </a:rPr>
              <a:t>)[0][1]</a:t>
            </a:r>
          </a:p>
          <a:p>
            <a:br>
              <a:rPr lang="es-MX" sz="1200" dirty="0">
                <a:latin typeface="Consolas" panose="020B0609020204030204" pitchFamily="49" charset="0"/>
              </a:rPr>
            </a:br>
            <a:endParaRPr lang="es-MX" sz="1200" dirty="0">
              <a:latin typeface="Consolas" panose="020B0609020204030204" pitchFamily="49" charset="0"/>
            </a:endParaRPr>
          </a:p>
          <a:p>
            <a:r>
              <a:rPr lang="es-MX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s-MX" sz="1200" dirty="0">
                <a:latin typeface="Consolas" panose="020B0609020204030204" pitchFamily="49" charset="0"/>
              </a:rPr>
              <a:t>("\</a:t>
            </a:r>
            <a:r>
              <a:rPr lang="es-MX" sz="1200" dirty="0" err="1">
                <a:latin typeface="Consolas" panose="020B0609020204030204" pitchFamily="49" charset="0"/>
              </a:rPr>
              <a:t>nPredicción</a:t>
            </a:r>
            <a:r>
              <a:rPr lang="es-MX" sz="1200" dirty="0">
                <a:latin typeface="Consolas" panose="020B0609020204030204" pitchFamily="49" charset="0"/>
              </a:rPr>
              <a:t> para el estudiante nuevo (25 </a:t>
            </a:r>
            <a:r>
              <a:rPr lang="es-MX" sz="1200" dirty="0" err="1">
                <a:latin typeface="Consolas" panose="020B0609020204030204" pitchFamily="49" charset="0"/>
              </a:rPr>
              <a:t>hs</a:t>
            </a:r>
            <a:r>
              <a:rPr lang="es-MX" sz="1200" dirty="0">
                <a:latin typeface="Consolas" panose="020B0609020204030204" pitchFamily="49" charset="0"/>
              </a:rPr>
              <a:t>, 68 </a:t>
            </a:r>
            <a:r>
              <a:rPr lang="es-MX" sz="1200" dirty="0" err="1">
                <a:latin typeface="Consolas" panose="020B0609020204030204" pitchFamily="49" charset="0"/>
              </a:rPr>
              <a:t>pts</a:t>
            </a:r>
            <a:r>
              <a:rPr lang="es-MX" sz="1200" dirty="0">
                <a:latin typeface="Consolas" panose="020B0609020204030204" pitchFamily="49" charset="0"/>
              </a:rPr>
              <a:t> previos, 58% asistencia)")</a:t>
            </a:r>
          </a:p>
          <a:p>
            <a:endParaRPr lang="es-MX" sz="1200" dirty="0">
              <a:latin typeface="Consolas" panose="020B0609020204030204" pitchFamily="49" charset="0"/>
            </a:endParaRPr>
          </a:p>
          <a:p>
            <a:r>
              <a:rPr lang="es-MX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s-MX" sz="1200" dirty="0">
                <a:latin typeface="Consolas" panose="020B0609020204030204" pitchFamily="49" charset="0"/>
              </a:rPr>
              <a:t>(</a:t>
            </a:r>
            <a:r>
              <a:rPr lang="es-MX" sz="1200" dirty="0" err="1">
                <a:latin typeface="Consolas" panose="020B0609020204030204" pitchFamily="49" charset="0"/>
              </a:rPr>
              <a:t>f"Calificación</a:t>
            </a:r>
            <a:r>
              <a:rPr lang="es-MX" sz="1200" dirty="0">
                <a:latin typeface="Consolas" panose="020B0609020204030204" pitchFamily="49" charset="0"/>
              </a:rPr>
              <a:t> estimada (regresión lineal): {calificacion_predicha:.2f}")</a:t>
            </a:r>
          </a:p>
          <a:p>
            <a:endParaRPr lang="es-MX" sz="1200" dirty="0">
              <a:latin typeface="Consolas" panose="020B0609020204030204" pitchFamily="49" charset="0"/>
            </a:endParaRPr>
          </a:p>
          <a:p>
            <a:r>
              <a:rPr lang="es-MX" sz="1200" dirty="0" err="1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s-MX" sz="1200" dirty="0">
                <a:latin typeface="Consolas" panose="020B0609020204030204" pitchFamily="49" charset="0"/>
              </a:rPr>
              <a:t>(</a:t>
            </a:r>
            <a:r>
              <a:rPr lang="es-MX" sz="1200" dirty="0" err="1">
                <a:latin typeface="Consolas" panose="020B0609020204030204" pitchFamily="49" charset="0"/>
              </a:rPr>
              <a:t>f"Condición</a:t>
            </a:r>
            <a:r>
              <a:rPr lang="es-MX" sz="1200" dirty="0">
                <a:latin typeface="Consolas" panose="020B0609020204030204" pitchFamily="49" charset="0"/>
              </a:rPr>
              <a:t> estimada (regresión logística): {'Aprobado' </a:t>
            </a:r>
            <a:r>
              <a:rPr lang="es-MX" sz="1200" dirty="0" err="1">
                <a:latin typeface="Consolas" panose="020B0609020204030204" pitchFamily="49" charset="0"/>
              </a:rPr>
              <a:t>if</a:t>
            </a:r>
            <a:r>
              <a:rPr lang="es-MX" sz="1200" dirty="0">
                <a:latin typeface="Consolas" panose="020B0609020204030204" pitchFamily="49" charset="0"/>
              </a:rPr>
              <a:t> </a:t>
            </a:r>
            <a:r>
              <a:rPr lang="es-MX" sz="1200" dirty="0" err="1">
                <a:latin typeface="Consolas" panose="020B0609020204030204" pitchFamily="49" charset="0"/>
              </a:rPr>
              <a:t>condicion_predicha</a:t>
            </a:r>
            <a:r>
              <a:rPr lang="es-MX" sz="1200" dirty="0">
                <a:latin typeface="Consolas" panose="020B0609020204030204" pitchFamily="49" charset="0"/>
              </a:rPr>
              <a:t> == 1 </a:t>
            </a:r>
            <a:r>
              <a:rPr lang="es-MX" sz="1200" dirty="0" err="1">
                <a:latin typeface="Consolas" panose="020B0609020204030204" pitchFamily="49" charset="0"/>
              </a:rPr>
              <a:t>else</a:t>
            </a:r>
            <a:r>
              <a:rPr lang="es-MX" sz="1200" dirty="0">
                <a:latin typeface="Consolas" panose="020B0609020204030204" pitchFamily="49" charset="0"/>
              </a:rPr>
              <a:t> 'No aprobado'}"</a:t>
            </a:r>
          </a:p>
          <a:p>
            <a:r>
              <a:rPr lang="es-MX" sz="1200" dirty="0">
                <a:latin typeface="Consolas" panose="020B0609020204030204" pitchFamily="49" charset="0"/>
              </a:rPr>
              <a:t>      f" (probabilidad de aprobar: {prob_aprobar:.2%})")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4FD9C3C-E2AF-453B-10A2-84F029EAAB94}"/>
              </a:ext>
            </a:extLst>
          </p:cNvPr>
          <p:cNvSpPr/>
          <p:nvPr/>
        </p:nvSpPr>
        <p:spPr>
          <a:xfrm>
            <a:off x="7589520" y="1371600"/>
            <a:ext cx="4114800" cy="325828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B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ctr">
              <a:spcAft>
                <a:spcPts val="800"/>
              </a:spcAft>
              <a:defRPr sz="1200" b="1">
                <a:solidFill>
                  <a:srgbClr val="A61C28"/>
                </a:solidFill>
                <a:latin typeface="Arial"/>
              </a:defRPr>
            </a:pPr>
            <a:r>
              <a:rPr sz="1400" dirty="0"/>
              <a:t>NOTAS TÉCNICAS</a:t>
            </a:r>
            <a:endParaRPr lang="es-AR" dirty="0"/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AR" dirty="0"/>
              <a:t>• </a:t>
            </a:r>
            <a:r>
              <a:rPr lang="es-MX" sz="1050" b="1" dirty="0"/>
              <a:t>Perfil evaluado:</a:t>
            </a:r>
            <a:r>
              <a:rPr lang="es-MX" sz="1050" dirty="0"/>
              <a:t> 25 </a:t>
            </a:r>
            <a:r>
              <a:rPr lang="es-MX" sz="1050" dirty="0" err="1"/>
              <a:t>hs</a:t>
            </a:r>
            <a:r>
              <a:rPr lang="es-MX" sz="1050" dirty="0"/>
              <a:t> de estudio, 68 </a:t>
            </a:r>
            <a:r>
              <a:rPr lang="es-MX" sz="1050" dirty="0" err="1"/>
              <a:t>pts</a:t>
            </a:r>
            <a:r>
              <a:rPr lang="es-MX" sz="1050" dirty="0"/>
              <a:t> en exámenes previos y 58% de asistencia.</a:t>
            </a:r>
            <a:endParaRPr lang="es-MX" dirty="0"/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dirty="0"/>
              <a:t>• </a:t>
            </a:r>
            <a:r>
              <a:rPr lang="es-MX" sz="1050" dirty="0"/>
              <a:t>Ambos enfoques coinciden en un escenario desfavorable. La regresión lineal estima una nota de 51.14 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dirty="0"/>
              <a:t>• </a:t>
            </a:r>
            <a:r>
              <a:rPr lang="es-MX" sz="1050" dirty="0"/>
              <a:t>El alumno tiene solo un </a:t>
            </a:r>
            <a:r>
              <a:rPr lang="es-MX" sz="1050" b="1" dirty="0"/>
              <a:t>0.90% de probabilidad de aprobar</a:t>
            </a:r>
            <a:r>
              <a:rPr lang="es-MX" sz="1050" dirty="0"/>
              <a:t>. Esto significa que los estudiantes con tan baja asistencia (58%) raramente logran promocionar o aprobar la materia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dirty="0"/>
              <a:t>• </a:t>
            </a:r>
            <a:r>
              <a:rPr lang="es-AR" sz="1050" b="1" dirty="0"/>
              <a:t>Regresión Logística: </a:t>
            </a:r>
            <a:r>
              <a:rPr lang="es-MX" sz="1050" dirty="0"/>
              <a:t>En este modelo no solo sabemos que predice "No aprobado", sino que podemos cuantificar qué tan cerca (o lejos) estuvo de cruzar el umbral del 50%.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endParaRPr b="1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61BEB25-C113-C8CF-B84D-B78D9369B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96" y="5419078"/>
            <a:ext cx="6676008" cy="59607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1DBEF6E7-E56C-E206-B2E2-F92B7C38E319}"/>
              </a:ext>
            </a:extLst>
          </p:cNvPr>
          <p:cNvSpPr/>
          <p:nvPr/>
        </p:nvSpPr>
        <p:spPr>
          <a:xfrm>
            <a:off x="3704208" y="4846468"/>
            <a:ext cx="363984" cy="381740"/>
          </a:xfrm>
          <a:prstGeom prst="downArrow">
            <a:avLst/>
          </a:prstGeom>
          <a:solidFill>
            <a:srgbClr val="A61C28"/>
          </a:solidFill>
          <a:ln>
            <a:solidFill>
              <a:srgbClr val="A6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49015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04320" y="6400800"/>
            <a:ext cx="487375" cy="457200"/>
          </a:xfrm>
          <a:prstGeom prst="rect">
            <a:avLst/>
          </a:prstGeom>
          <a:solidFill>
            <a:srgbClr val="BEB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430000" y="6583680"/>
            <a:ext cx="761695" cy="274320"/>
          </a:xfrm>
          <a:prstGeom prst="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577683"/>
            <a:ext cx="8686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A61C28"/>
                </a:solidFill>
                <a:latin typeface="Georgia"/>
              </a:defRPr>
            </a:pPr>
            <a:r>
              <a:rPr dirty="0" err="1"/>
              <a:t>Ejercicio</a:t>
            </a:r>
            <a:r>
              <a:rPr dirty="0"/>
              <a:t> 2: SVM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20040"/>
            <a:ext cx="2286000" cy="365760"/>
          </a:xfrm>
          <a:prstGeom prst="round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/>
              <a:t>EJERCICIO </a:t>
            </a:r>
            <a:r>
              <a:t>2 </a:t>
            </a:r>
            <a:endParaRPr dirty="0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8091A554-A301-E84A-56EF-194F24B3F558}"/>
              </a:ext>
            </a:extLst>
          </p:cNvPr>
          <p:cNvSpPr/>
          <p:nvPr/>
        </p:nvSpPr>
        <p:spPr>
          <a:xfrm>
            <a:off x="709863" y="1874520"/>
            <a:ext cx="4648200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1C28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t"/>
          <a:lstStyle/>
          <a:p>
            <a:pPr algn="ctr">
              <a:spcAft>
                <a:spcPts val="1000"/>
              </a:spcAft>
              <a:defRPr sz="1400" b="1">
                <a:solidFill>
                  <a:srgbClr val="A61C28"/>
                </a:solidFill>
                <a:latin typeface="Georgia"/>
              </a:defRPr>
            </a:pPr>
            <a:r>
              <a:rPr lang="es-AR" sz="3200" dirty="0"/>
              <a:t>2.1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A61C28"/>
                </a:solidFill>
                <a:latin typeface="Georgia"/>
              </a:defRPr>
            </a:pPr>
            <a:endParaRPr sz="1600" dirty="0"/>
          </a:p>
          <a:p>
            <a:pPr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MX" sz="1600" dirty="0"/>
              <a:t>Aplicar el método de SVM para clasificar los ejemplos del conjunto de prueba, utilizando</a:t>
            </a:r>
          </a:p>
          <a:p>
            <a:pPr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MX" sz="1600" dirty="0"/>
              <a:t>diferentes </a:t>
            </a:r>
            <a:r>
              <a:rPr lang="es-MX" sz="1600" dirty="0" err="1"/>
              <a:t>kernels</a:t>
            </a:r>
            <a:r>
              <a:rPr lang="es-MX" sz="1600" dirty="0"/>
              <a:t> y diferentes valores del parámetro C, costo de violación de restricción.</a:t>
            </a:r>
          </a:p>
          <a:p>
            <a:pPr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MX" sz="1600" dirty="0"/>
              <a:t>(Este punto puede realizarse con bibliotecas específicas.)</a:t>
            </a:r>
            <a:endParaRPr sz="1600" dirty="0"/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82A72544-801E-ED34-3E71-5B084AE0760E}"/>
              </a:ext>
            </a:extLst>
          </p:cNvPr>
          <p:cNvSpPr txBox="1"/>
          <p:nvPr/>
        </p:nvSpPr>
        <p:spPr>
          <a:xfrm>
            <a:off x="457200" y="1061258"/>
            <a:ext cx="10972800" cy="276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Utilizando los mismos conjuntos de entrenamiento y de prueba que en el Ejercicio 1 se pide lo siguiente: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8D4BB833-BB95-03F2-D20E-E099ECA73F4D}"/>
              </a:ext>
            </a:extLst>
          </p:cNvPr>
          <p:cNvSpPr/>
          <p:nvPr/>
        </p:nvSpPr>
        <p:spPr>
          <a:xfrm>
            <a:off x="6781800" y="1874520"/>
            <a:ext cx="4648200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1C28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t"/>
          <a:lstStyle/>
          <a:p>
            <a:pPr algn="ctr">
              <a:spcAft>
                <a:spcPts val="1000"/>
              </a:spcAft>
              <a:defRPr sz="1400" b="1">
                <a:solidFill>
                  <a:srgbClr val="A61C28"/>
                </a:solidFill>
                <a:latin typeface="Georgia"/>
              </a:defRPr>
            </a:pPr>
            <a:r>
              <a:rPr lang="es-AR" sz="3200" dirty="0"/>
              <a:t>2.2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A61C28"/>
                </a:solidFill>
                <a:latin typeface="Georgia"/>
              </a:defRPr>
            </a:pPr>
            <a:endParaRPr sz="1600" dirty="0"/>
          </a:p>
          <a:p>
            <a:pPr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MX" sz="1600" dirty="0"/>
              <a:t>Para cada uno de los modelos construidos en el inciso anterior, calcular la matriz de</a:t>
            </a:r>
          </a:p>
          <a:p>
            <a:pPr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MX" sz="1600" dirty="0"/>
              <a:t>confusión para el conjunto de prueba, el valor de </a:t>
            </a:r>
            <a:r>
              <a:rPr lang="es-MX" sz="1600" dirty="0" err="1"/>
              <a:t>accuracy</a:t>
            </a:r>
            <a:r>
              <a:rPr lang="es-MX" sz="1600" dirty="0"/>
              <a:t> y el F1-score</a:t>
            </a:r>
            <a:endParaRPr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704320" y="6400800"/>
            <a:ext cx="487375" cy="457200"/>
          </a:xfrm>
          <a:prstGeom prst="rect">
            <a:avLst/>
          </a:prstGeom>
          <a:solidFill>
            <a:srgbClr val="BEB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430000" y="6583680"/>
            <a:ext cx="761695" cy="274320"/>
          </a:xfrm>
          <a:prstGeom prst="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18320" y="320040"/>
            <a:ext cx="2286000" cy="365760"/>
          </a:xfrm>
          <a:prstGeom prst="round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/>
              <a:t>EJERCICIO 2 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199" y="1000552"/>
            <a:ext cx="6858000" cy="3369076"/>
          </a:xfrm>
          <a:prstGeom prst="rect">
            <a:avLst/>
          </a:prstGeom>
          <a:solidFill>
            <a:srgbClr val="1E1E1E"/>
          </a:solidFill>
          <a:ln w="127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kernels</a:t>
            </a:r>
            <a:r>
              <a:rPr lang="es-AR" sz="1100" dirty="0">
                <a:latin typeface="Consolas" panose="020B0609020204030204" pitchFamily="49" charset="0"/>
              </a:rPr>
              <a:t> = ["linear", "</a:t>
            </a:r>
            <a:r>
              <a:rPr lang="es-AR" sz="1100" dirty="0" err="1">
                <a:latin typeface="Consolas" panose="020B0609020204030204" pitchFamily="49" charset="0"/>
              </a:rPr>
              <a:t>rbf</a:t>
            </a:r>
            <a:r>
              <a:rPr lang="es-AR" sz="1100" dirty="0">
                <a:latin typeface="Consolas" panose="020B0609020204030204" pitchFamily="49" charset="0"/>
              </a:rPr>
              <a:t>", "</a:t>
            </a:r>
            <a:r>
              <a:rPr lang="es-AR" sz="1100" dirty="0" err="1">
                <a:latin typeface="Consolas" panose="020B0609020204030204" pitchFamily="49" charset="0"/>
              </a:rPr>
              <a:t>poly</a:t>
            </a:r>
            <a:r>
              <a:rPr lang="es-AR" sz="1100" dirty="0">
                <a:latin typeface="Consolas" panose="020B0609020204030204" pitchFamily="49" charset="0"/>
              </a:rPr>
              <a:t>"]</a:t>
            </a: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valores_C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>
                <a:latin typeface="Consolas" panose="020B0609020204030204" pitchFamily="49" charset="0"/>
              </a:rPr>
              <a:t>= [0.1, 1, 10]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resultados_svm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>
                <a:latin typeface="Consolas" panose="020B0609020204030204" pitchFamily="49" charset="0"/>
              </a:rPr>
              <a:t>= []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s-AR" sz="1100" dirty="0">
                <a:latin typeface="Consolas" panose="020B0609020204030204" pitchFamily="49" charset="0"/>
              </a:rPr>
              <a:t>("\</a:t>
            </a:r>
            <a:r>
              <a:rPr lang="es-AR" sz="1100" dirty="0" err="1">
                <a:latin typeface="Consolas" panose="020B0609020204030204" pitchFamily="49" charset="0"/>
              </a:rPr>
              <a:t>nSVM</a:t>
            </a:r>
            <a:r>
              <a:rPr lang="es-AR" sz="1100" dirty="0">
                <a:latin typeface="Consolas" panose="020B0609020204030204" pitchFamily="49" charset="0"/>
              </a:rPr>
              <a:t>: comparación de </a:t>
            </a:r>
            <a:r>
              <a:rPr lang="es-AR" sz="1100" dirty="0" err="1">
                <a:latin typeface="Consolas" panose="020B0609020204030204" pitchFamily="49" charset="0"/>
              </a:rPr>
              <a:t>kernels</a:t>
            </a:r>
            <a:r>
              <a:rPr lang="es-AR" sz="1100" dirty="0">
                <a:latin typeface="Consolas" panose="020B0609020204030204" pitchFamily="49" charset="0"/>
              </a:rPr>
              <a:t> y valores de C")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for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kernel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, C in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product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kernels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valores_C</a:t>
            </a:r>
            <a:r>
              <a:rPr lang="es-AR" sz="1100" dirty="0">
                <a:latin typeface="Consolas" panose="020B0609020204030204" pitchFamily="49" charset="0"/>
              </a:rPr>
              <a:t>):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>
                <a:latin typeface="Consolas" panose="020B0609020204030204" pitchFamily="49" charset="0"/>
              </a:rPr>
              <a:t>   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modelo_svm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>
                <a:latin typeface="Consolas" panose="020B0609020204030204" pitchFamily="49" charset="0"/>
              </a:rPr>
              <a:t>= </a:t>
            </a:r>
            <a:r>
              <a:rPr lang="es-AR" sz="1100" dirty="0" err="1">
                <a:latin typeface="Consolas" panose="020B0609020204030204" pitchFamily="49" charset="0"/>
              </a:rPr>
              <a:t>alg.entrenar_svm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X_train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y_train_bin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i="1" dirty="0" err="1">
                <a:latin typeface="Consolas" panose="020B0609020204030204" pitchFamily="49" charset="0"/>
              </a:rPr>
              <a:t>kernel</a:t>
            </a:r>
            <a:r>
              <a:rPr lang="es-AR" sz="1100" dirty="0">
                <a:latin typeface="Consolas" panose="020B0609020204030204" pitchFamily="49" charset="0"/>
              </a:rPr>
              <a:t>=</a:t>
            </a:r>
            <a:r>
              <a:rPr lang="es-AR" sz="1100" dirty="0" err="1">
                <a:latin typeface="Consolas" panose="020B0609020204030204" pitchFamily="49" charset="0"/>
              </a:rPr>
              <a:t>kernel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i="1" dirty="0">
                <a:latin typeface="Consolas" panose="020B0609020204030204" pitchFamily="49" charset="0"/>
              </a:rPr>
              <a:t>C</a:t>
            </a:r>
            <a:r>
              <a:rPr lang="es-AR" sz="1100" dirty="0">
                <a:latin typeface="Consolas" panose="020B0609020204030204" pitchFamily="49" charset="0"/>
              </a:rPr>
              <a:t>=C)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   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y_pred_svm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>
                <a:latin typeface="Consolas" panose="020B0609020204030204" pitchFamily="49" charset="0"/>
              </a:rPr>
              <a:t>= </a:t>
            </a:r>
            <a:r>
              <a:rPr lang="es-AR" sz="1100" dirty="0" err="1">
                <a:latin typeface="Consolas" panose="020B0609020204030204" pitchFamily="49" charset="0"/>
              </a:rPr>
              <a:t>modelo_svm.predict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X_test</a:t>
            </a:r>
            <a:r>
              <a:rPr lang="es-AR" sz="1100" dirty="0">
                <a:latin typeface="Consolas" panose="020B0609020204030204" pitchFamily="49" charset="0"/>
              </a:rPr>
              <a:t>)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    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resultado </a:t>
            </a:r>
            <a:r>
              <a:rPr lang="es-AR" sz="1100" dirty="0">
                <a:latin typeface="Consolas" panose="020B0609020204030204" pitchFamily="49" charset="0"/>
              </a:rPr>
              <a:t>= </a:t>
            </a:r>
            <a:r>
              <a:rPr lang="es-AR" sz="1100" dirty="0" err="1">
                <a:latin typeface="Consolas" panose="020B0609020204030204" pitchFamily="49" charset="0"/>
              </a:rPr>
              <a:t>herramientas.evaluar_clasificacion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y_test_bin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dirty="0" err="1">
                <a:latin typeface="Consolas" panose="020B0609020204030204" pitchFamily="49" charset="0"/>
              </a:rPr>
              <a:t>y_pred_svm</a:t>
            </a:r>
            <a:r>
              <a:rPr lang="es-AR" sz="1100" dirty="0">
                <a:latin typeface="Consolas" panose="020B0609020204030204" pitchFamily="49" charset="0"/>
              </a:rPr>
              <a:t>)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>
                <a:latin typeface="Consolas" panose="020B0609020204030204" pitchFamily="49" charset="0"/>
              </a:rPr>
              <a:t>   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resultados_svm.append</a:t>
            </a:r>
            <a:r>
              <a:rPr lang="es-AR" sz="1100" dirty="0">
                <a:latin typeface="Consolas" panose="020B0609020204030204" pitchFamily="49" charset="0"/>
              </a:rPr>
              <a:t>({"</a:t>
            </a:r>
            <a:r>
              <a:rPr lang="es-AR" sz="1100" dirty="0" err="1">
                <a:latin typeface="Consolas" panose="020B0609020204030204" pitchFamily="49" charset="0"/>
              </a:rPr>
              <a:t>kernel</a:t>
            </a:r>
            <a:r>
              <a:rPr lang="es-AR" sz="1100" dirty="0">
                <a:latin typeface="Consolas" panose="020B0609020204030204" pitchFamily="49" charset="0"/>
              </a:rPr>
              <a:t>": </a:t>
            </a:r>
            <a:r>
              <a:rPr lang="es-AR" sz="1100" dirty="0" err="1">
                <a:latin typeface="Consolas" panose="020B0609020204030204" pitchFamily="49" charset="0"/>
              </a:rPr>
              <a:t>kernel</a:t>
            </a:r>
            <a:r>
              <a:rPr lang="es-AR" sz="1100" dirty="0">
                <a:latin typeface="Consolas" panose="020B0609020204030204" pitchFamily="49" charset="0"/>
              </a:rPr>
              <a:t>, "C": C, **resultado})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>
                <a:latin typeface="Consolas" panose="020B0609020204030204" pitchFamily="49" charset="0"/>
              </a:rPr>
              <a:t>   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f"kernel</a:t>
            </a:r>
            <a:r>
              <a:rPr lang="es-AR" sz="1100" dirty="0">
                <a:latin typeface="Consolas" panose="020B0609020204030204" pitchFamily="49" charset="0"/>
              </a:rPr>
              <a:t>={kernel:6s} C={C:&lt;4} -&gt; "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          </a:t>
            </a:r>
            <a:r>
              <a:rPr lang="es-AR" sz="1100" dirty="0" err="1">
                <a:latin typeface="Consolas" panose="020B0609020204030204" pitchFamily="49" charset="0"/>
              </a:rPr>
              <a:t>f"accuracy</a:t>
            </a:r>
            <a:r>
              <a:rPr lang="es-AR" sz="1100" dirty="0">
                <a:latin typeface="Consolas" panose="020B0609020204030204" pitchFamily="49" charset="0"/>
              </a:rPr>
              <a:t>={resultado['</a:t>
            </a:r>
            <a:r>
              <a:rPr lang="es-AR" sz="1100" dirty="0" err="1">
                <a:latin typeface="Consolas" panose="020B0609020204030204" pitchFamily="49" charset="0"/>
              </a:rPr>
              <a:t>accuracy</a:t>
            </a:r>
            <a:r>
              <a:rPr lang="es-AR" sz="1100" dirty="0">
                <a:latin typeface="Consolas" panose="020B0609020204030204" pitchFamily="49" charset="0"/>
              </a:rPr>
              <a:t>']:.3f}  f1={resultado['f1_score']:.3f}  "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          </a:t>
            </a:r>
            <a:r>
              <a:rPr lang="es-AR" sz="1100" dirty="0" err="1">
                <a:latin typeface="Consolas" panose="020B0609020204030204" pitchFamily="49" charset="0"/>
              </a:rPr>
              <a:t>f"matriz</a:t>
            </a:r>
            <a:r>
              <a:rPr lang="es-AR" sz="1100" dirty="0">
                <a:latin typeface="Consolas" panose="020B0609020204030204" pitchFamily="49" charset="0"/>
              </a:rPr>
              <a:t>={resultado['</a:t>
            </a:r>
            <a:r>
              <a:rPr lang="es-AR" sz="1100" dirty="0" err="1">
                <a:latin typeface="Consolas" panose="020B0609020204030204" pitchFamily="49" charset="0"/>
              </a:rPr>
              <a:t>matriz_confusion</a:t>
            </a:r>
            <a:r>
              <a:rPr lang="es-AR" sz="1100" dirty="0">
                <a:latin typeface="Consolas" panose="020B0609020204030204" pitchFamily="49" charset="0"/>
              </a:rPr>
              <a:t>']}")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371600"/>
            <a:ext cx="4114800" cy="367979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B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ctr">
              <a:spcAft>
                <a:spcPts val="800"/>
              </a:spcAft>
              <a:defRPr sz="1200" b="1">
                <a:solidFill>
                  <a:srgbClr val="A61C28"/>
                </a:solidFill>
                <a:latin typeface="Arial"/>
              </a:defRPr>
            </a:pPr>
            <a:r>
              <a:rPr sz="1400" dirty="0"/>
              <a:t>NOTAS TÉCNICAS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dirty="0"/>
              <a:t>• </a:t>
            </a:r>
            <a:r>
              <a:rPr lang="es-MX" sz="1050" b="1" dirty="0" err="1"/>
              <a:t>Kernel</a:t>
            </a:r>
            <a:r>
              <a:rPr lang="es-MX" sz="1050" b="1" dirty="0"/>
              <a:t> Lineal:</a:t>
            </a:r>
            <a:r>
              <a:rPr lang="es-MX" sz="1050" dirty="0"/>
              <a:t> Demostró ser el más robusto para este </a:t>
            </a:r>
            <a:r>
              <a:rPr lang="es-MX" sz="1050" dirty="0" err="1"/>
              <a:t>dataset</a:t>
            </a:r>
            <a:r>
              <a:rPr lang="es-MX" sz="1050" dirty="0"/>
              <a:t>. Al subir el parámetro a </a:t>
            </a:r>
            <a:r>
              <a:rPr lang="es-MX" sz="1050" b="1" dirty="0"/>
              <a:t>C=10</a:t>
            </a:r>
            <a:r>
              <a:rPr lang="es-MX" sz="1050" dirty="0"/>
              <a:t>, el modelo se volvió más estricto con los errores de entrenamiento, lo que se tradujo en una mejor generalización en el conjunto de prueba, alcanzando un </a:t>
            </a:r>
            <a:r>
              <a:rPr lang="es-MX" sz="1050" b="1" dirty="0"/>
              <a:t>F1-score de 0.706 y 85% de exactitud</a:t>
            </a:r>
            <a:r>
              <a:rPr lang="es-MX" sz="1050" dirty="0"/>
              <a:t>. 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dirty="0"/>
              <a:t>• </a:t>
            </a:r>
            <a:r>
              <a:rPr lang="es-MX" sz="1050" b="1" dirty="0" err="1"/>
              <a:t>Kernels</a:t>
            </a:r>
            <a:r>
              <a:rPr lang="es-MX" sz="1050" b="1" dirty="0"/>
              <a:t> Complejos (RBF y </a:t>
            </a:r>
            <a:r>
              <a:rPr lang="es-MX" sz="1050" b="1" dirty="0" err="1"/>
              <a:t>Poly</a:t>
            </a:r>
            <a:r>
              <a:rPr lang="es-MX" sz="1050" b="1" dirty="0"/>
              <a:t>): </a:t>
            </a:r>
            <a:r>
              <a:rPr lang="es-MX" sz="1050" dirty="0"/>
              <a:t>Las fronteras curvas y de mayor dimensión no lograron superar a la línea recta. El </a:t>
            </a:r>
            <a:r>
              <a:rPr lang="es-MX" sz="1050" dirty="0" err="1"/>
              <a:t>kernel</a:t>
            </a:r>
            <a:r>
              <a:rPr lang="es-MX" sz="1050" dirty="0"/>
              <a:t> RBF con C=0.1 mostró un rendimiento bajo (F1 de 0.550), lo que sugiere que un margen demasiado blando o una excesiva simplificación geométrica  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dirty="0"/>
              <a:t>• </a:t>
            </a:r>
            <a:r>
              <a:rPr lang="es-MX" sz="1050" dirty="0"/>
              <a:t>La métrica de F1-score nos permite seleccionar con certeza matemática al </a:t>
            </a:r>
            <a:r>
              <a:rPr lang="es-MX" sz="1050" b="1" dirty="0"/>
              <a:t>SVM Lineal con C=10</a:t>
            </a:r>
            <a:r>
              <a:rPr lang="es-MX" sz="1050" dirty="0"/>
              <a:t> como el mejor clasificador dentro de la familia de vectores de soporte analizada.</a:t>
            </a:r>
            <a:endParaRPr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8E77D17-8DEB-A2F1-D576-3412DB00B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142" y="4713668"/>
            <a:ext cx="5637211" cy="20781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AFAD434F-3296-C1FC-7E2B-BEFD5F0A63B0}"/>
              </a:ext>
            </a:extLst>
          </p:cNvPr>
          <p:cNvSpPr/>
          <p:nvPr/>
        </p:nvSpPr>
        <p:spPr>
          <a:xfrm>
            <a:off x="3522215" y="4408670"/>
            <a:ext cx="363984" cy="265955"/>
          </a:xfrm>
          <a:prstGeom prst="downArrow">
            <a:avLst/>
          </a:prstGeom>
          <a:solidFill>
            <a:srgbClr val="A61C28"/>
          </a:solidFill>
          <a:ln>
            <a:solidFill>
              <a:srgbClr val="A6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5400000">
            <a:off x="11277295" y="0"/>
            <a:ext cx="914400" cy="914400"/>
          </a:xfrm>
          <a:prstGeom prst="rtTriangle">
            <a:avLst/>
          </a:prstGeom>
          <a:solidFill>
            <a:srgbClr val="BEB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" y="6400800"/>
            <a:ext cx="640080" cy="640080"/>
          </a:xfrm>
          <a:prstGeom prst="ellipse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3200400" cy="320040"/>
          </a:xfrm>
          <a:prstGeom prst="round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EJERCICIO 2 •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40011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A61C28"/>
                </a:solidFill>
                <a:latin typeface="Georgia"/>
              </a:defRPr>
            </a:pPr>
            <a:r>
              <a:rPr dirty="0" err="1"/>
              <a:t>Grilla</a:t>
            </a:r>
            <a:r>
              <a:rPr dirty="0"/>
              <a:t> de </a:t>
            </a:r>
            <a:r>
              <a:rPr dirty="0" err="1"/>
              <a:t>Hiperparámetros</a:t>
            </a:r>
            <a:r>
              <a:rPr dirty="0"/>
              <a:t> SVM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94415" cy="31750"/>
          </a:xfrm>
          <a:prstGeom prst="rect">
            <a:avLst/>
          </a:prstGeom>
          <a:solidFill>
            <a:srgbClr val="A6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065351"/>
              </p:ext>
            </p:extLst>
          </p:nvPr>
        </p:nvGraphicFramePr>
        <p:xfrm>
          <a:off x="548640" y="1645920"/>
          <a:ext cx="6858000" cy="43891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Kernel</a:t>
                      </a:r>
                    </a:p>
                  </a:txBody>
                  <a:tcPr>
                    <a:solidFill>
                      <a:srgbClr val="A61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Costo C</a:t>
                      </a:r>
                    </a:p>
                  </a:txBody>
                  <a:tcPr>
                    <a:solidFill>
                      <a:srgbClr val="A61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</a:p>
                  </a:txBody>
                  <a:tcPr>
                    <a:solidFill>
                      <a:srgbClr val="A61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F1-Score</a:t>
                      </a:r>
                    </a:p>
                  </a:txBody>
                  <a:tcPr>
                    <a:solidFill>
                      <a:srgbClr val="A61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Matriz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Confusión</a:t>
                      </a:r>
                      <a:endParaRPr sz="10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A6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linear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dirty="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0.840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0.692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[[66, 9], [7, 18]]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linear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1.0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0.840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0.692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[[66, 9], [7, 18]]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A61C28"/>
                          </a:solidFill>
                          <a:latin typeface="Arial Rounded MT Bold" panose="020F0704030504030204" pitchFamily="34" charset="0"/>
                        </a:rPr>
                        <a:t>linear</a:t>
                      </a:r>
                    </a:p>
                  </a:txBody>
                  <a:tcPr>
                    <a:solidFill>
                      <a:srgbClr val="BEB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A61C28"/>
                          </a:solidFill>
                          <a:latin typeface="Arial Rounded MT Bold" panose="020F0704030504030204" pitchFamily="34" charset="0"/>
                        </a:rPr>
                        <a:t>10.0</a:t>
                      </a:r>
                    </a:p>
                  </a:txBody>
                  <a:tcPr>
                    <a:solidFill>
                      <a:srgbClr val="BEB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A61C28"/>
                          </a:solidFill>
                          <a:latin typeface="Arial Rounded MT Bold" panose="020F0704030504030204" pitchFamily="34" charset="0"/>
                        </a:rPr>
                        <a:t>0.850</a:t>
                      </a:r>
                    </a:p>
                  </a:txBody>
                  <a:tcPr>
                    <a:solidFill>
                      <a:srgbClr val="BEB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A61C28"/>
                          </a:solidFill>
                          <a:latin typeface="Arial Rounded MT Bold" panose="020F0704030504030204" pitchFamily="34" charset="0"/>
                        </a:rPr>
                        <a:t>0.706</a:t>
                      </a:r>
                    </a:p>
                  </a:txBody>
                  <a:tcPr>
                    <a:solidFill>
                      <a:srgbClr val="BEB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A61C28"/>
                          </a:solidFill>
                          <a:latin typeface="Arial Rounded MT Bold" panose="020F0704030504030204" pitchFamily="34" charset="0"/>
                        </a:rPr>
                        <a:t>[[67, 8], [7, 18]]</a:t>
                      </a:r>
                    </a:p>
                  </a:txBody>
                  <a:tcPr>
                    <a:solidFill>
                      <a:srgbClr val="BEB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rbf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0.1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0.820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0.550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[[71, 4], [14, 11]]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rbf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0.840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0.652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[[69, 6], [10, 15]]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rbf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10.0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0.830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0.653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[[67, 8], [9, 16]]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poly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0.840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0.680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dirty="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[[67, 8], [8, 17]]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poly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1.0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0.840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0.667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[[68, 7], [9, 16]]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poly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0.830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0.653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dirty="0">
                          <a:solidFill>
                            <a:srgbClr val="594F4F"/>
                          </a:solidFill>
                          <a:latin typeface="Arial Rounded MT Bold" panose="020F0704030504030204" pitchFamily="34" charset="0"/>
                        </a:rPr>
                        <a:t>[[67, 8], [9, 16]]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589520" y="1645920"/>
            <a:ext cx="4023360" cy="2882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EBF99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737360"/>
            <a:ext cx="3840480" cy="2449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A61C28"/>
                </a:solidFill>
                <a:latin typeface="Arial"/>
              </a:defRPr>
            </a:pPr>
            <a:r>
              <a:rPr sz="1400" dirty="0"/>
              <a:t>HALLAZGOS DE LA GRILLA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000">
                <a:solidFill>
                  <a:srgbClr val="594F4F"/>
                </a:solidFill>
                <a:latin typeface="Arial"/>
              </a:defRPr>
            </a:pPr>
            <a:r>
              <a:rPr sz="1200" dirty="0"/>
              <a:t>•  El kernel lineal </a:t>
            </a:r>
            <a:r>
              <a:rPr sz="1200" dirty="0" err="1"/>
              <a:t>superó</a:t>
            </a:r>
            <a:r>
              <a:rPr sz="1200" dirty="0"/>
              <a:t> RBF y </a:t>
            </a:r>
            <a:r>
              <a:rPr sz="1200" dirty="0" err="1"/>
              <a:t>Polyen</a:t>
            </a:r>
            <a:r>
              <a:rPr sz="1200" dirty="0"/>
              <a:t> </a:t>
            </a:r>
            <a:r>
              <a:rPr sz="1200" dirty="0" err="1"/>
              <a:t>este</a:t>
            </a:r>
            <a:r>
              <a:rPr sz="1200" dirty="0"/>
              <a:t> set de </a:t>
            </a:r>
            <a:r>
              <a:rPr sz="1200" dirty="0" err="1"/>
              <a:t>datos</a:t>
            </a:r>
            <a:r>
              <a:rPr sz="1200" dirty="0"/>
              <a:t>.</a:t>
            </a:r>
          </a:p>
          <a:p>
            <a:pPr>
              <a:spcBef>
                <a:spcPts val="0"/>
              </a:spcBef>
              <a:spcAft>
                <a:spcPts val="500"/>
              </a:spcAft>
              <a:defRPr sz="1000">
                <a:solidFill>
                  <a:srgbClr val="594F4F"/>
                </a:solidFill>
                <a:latin typeface="Arial"/>
              </a:defRPr>
            </a:pPr>
            <a:r>
              <a:rPr sz="1200" dirty="0"/>
              <a:t>•   El </a:t>
            </a:r>
            <a:r>
              <a:rPr sz="1200" dirty="0" err="1"/>
              <a:t>estimador</a:t>
            </a:r>
            <a:r>
              <a:rPr sz="1200" dirty="0"/>
              <a:t> con kernel linear y </a:t>
            </a:r>
            <a:r>
              <a:rPr sz="1200" dirty="0" err="1"/>
              <a:t>penalización</a:t>
            </a:r>
            <a:r>
              <a:rPr sz="1200" dirty="0"/>
              <a:t> </a:t>
            </a:r>
            <a:r>
              <a:rPr sz="1200" dirty="0" err="1"/>
              <a:t>estricta</a:t>
            </a:r>
            <a:r>
              <a:rPr sz="1200" dirty="0"/>
              <a:t> C=10.0 </a:t>
            </a:r>
            <a:r>
              <a:rPr sz="1200" dirty="0" err="1"/>
              <a:t>registró</a:t>
            </a:r>
            <a:r>
              <a:rPr sz="1200" dirty="0"/>
              <a:t> </a:t>
            </a:r>
            <a:r>
              <a:rPr sz="1200" dirty="0" err="1"/>
              <a:t>el</a:t>
            </a:r>
            <a:r>
              <a:rPr sz="1200" dirty="0"/>
              <a:t> mayor </a:t>
            </a:r>
            <a:r>
              <a:rPr sz="1200" dirty="0" err="1"/>
              <a:t>rendimiento</a:t>
            </a:r>
            <a:r>
              <a:rPr sz="1200" dirty="0"/>
              <a:t>: Accuracy de 85.0% y F1-Score de 70.6%</a:t>
            </a:r>
            <a:r>
              <a:rPr lang="es-AR" sz="1200" dirty="0"/>
              <a:t>4.</a:t>
            </a:r>
            <a:endParaRPr sz="1200" dirty="0"/>
          </a:p>
          <a:p>
            <a:pPr>
              <a:spcBef>
                <a:spcPts val="0"/>
              </a:spcBef>
              <a:spcAft>
                <a:spcPts val="500"/>
              </a:spcAft>
              <a:defRPr sz="1000">
                <a:solidFill>
                  <a:srgbClr val="594F4F"/>
                </a:solidFill>
                <a:latin typeface="Arial"/>
              </a:defRPr>
            </a:pPr>
            <a:r>
              <a:rPr sz="1200" dirty="0"/>
              <a:t>•  </a:t>
            </a:r>
            <a:r>
              <a:rPr sz="1200" dirty="0" err="1"/>
              <a:t>Subajuste</a:t>
            </a:r>
            <a:r>
              <a:rPr sz="1200" dirty="0"/>
              <a:t> de RBF: Las </a:t>
            </a:r>
            <a:r>
              <a:rPr sz="1200" dirty="0" err="1"/>
              <a:t>proyecciones</a:t>
            </a:r>
            <a:r>
              <a:rPr sz="1200" dirty="0"/>
              <a:t> radiales </a:t>
            </a:r>
            <a:r>
              <a:rPr sz="1200" dirty="0" err="1"/>
              <a:t>sufrieron</a:t>
            </a:r>
            <a:r>
              <a:rPr sz="1200" dirty="0"/>
              <a:t> un </a:t>
            </a:r>
            <a:r>
              <a:rPr sz="1200" dirty="0" err="1"/>
              <a:t>subajuste</a:t>
            </a:r>
            <a:r>
              <a:rPr sz="1200" dirty="0"/>
              <a:t> </a:t>
            </a:r>
            <a:r>
              <a:rPr sz="1200" dirty="0" err="1"/>
              <a:t>severo</a:t>
            </a:r>
            <a:r>
              <a:rPr sz="1200" dirty="0"/>
              <a:t> con C bajo (F1 de 55.0% con C=0.1), </a:t>
            </a:r>
            <a:endParaRPr lang="es-AR" sz="1200" dirty="0"/>
          </a:p>
          <a:p>
            <a:pPr>
              <a:spcBef>
                <a:spcPts val="0"/>
              </a:spcBef>
              <a:spcAft>
                <a:spcPts val="500"/>
              </a:spcAft>
              <a:defRPr sz="1000">
                <a:solidFill>
                  <a:srgbClr val="594F4F"/>
                </a:solidFill>
                <a:latin typeface="Arial"/>
              </a:defRPr>
            </a:pPr>
            <a:r>
              <a:rPr sz="1200" dirty="0"/>
              <a:t>•  La </a:t>
            </a:r>
            <a:r>
              <a:rPr sz="1200" dirty="0" err="1"/>
              <a:t>métrica</a:t>
            </a:r>
            <a:r>
              <a:rPr sz="1200" dirty="0"/>
              <a:t> de F1-score </a:t>
            </a:r>
            <a:r>
              <a:rPr sz="1200" dirty="0" err="1"/>
              <a:t>en</a:t>
            </a:r>
            <a:r>
              <a:rPr lang="es-AR" sz="1200" dirty="0"/>
              <a:t> el</a:t>
            </a:r>
            <a:r>
              <a:rPr sz="1200" dirty="0"/>
              <a:t> test </a:t>
            </a:r>
            <a:r>
              <a:rPr sz="1200" dirty="0" err="1"/>
              <a:t>confirma</a:t>
            </a:r>
            <a:r>
              <a:rPr sz="1200" dirty="0"/>
              <a:t> </a:t>
            </a:r>
            <a:r>
              <a:rPr lang="es-AR" sz="1200" dirty="0"/>
              <a:t>que el</a:t>
            </a:r>
            <a:r>
              <a:rPr sz="1200" dirty="0"/>
              <a:t> </a:t>
            </a:r>
            <a:r>
              <a:rPr sz="1200" dirty="0" err="1"/>
              <a:t>modelo</a:t>
            </a:r>
            <a:r>
              <a:rPr sz="1200" dirty="0"/>
              <a:t> SVM Lineal (C=10) </a:t>
            </a:r>
            <a:r>
              <a:rPr sz="1200" dirty="0" err="1"/>
              <a:t>como</a:t>
            </a:r>
            <a:r>
              <a:rPr lang="es-AR" sz="1200" dirty="0"/>
              <a:t> el mejor modelo.</a:t>
            </a:r>
            <a:endParaRPr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596A1C-2D4E-D84E-2FAA-BA408F3A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F426D0-01A6-33F1-2189-1871B2A6C1D9}"/>
              </a:ext>
            </a:extLst>
          </p:cNvPr>
          <p:cNvSpPr/>
          <p:nvPr/>
        </p:nvSpPr>
        <p:spPr>
          <a:xfrm>
            <a:off x="11704320" y="6400800"/>
            <a:ext cx="487375" cy="457200"/>
          </a:xfrm>
          <a:prstGeom prst="rect">
            <a:avLst/>
          </a:prstGeom>
          <a:solidFill>
            <a:srgbClr val="BEB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4DD9B-4242-9CD1-9EBD-353AEE18AAB1}"/>
              </a:ext>
            </a:extLst>
          </p:cNvPr>
          <p:cNvSpPr/>
          <p:nvPr/>
        </p:nvSpPr>
        <p:spPr>
          <a:xfrm>
            <a:off x="11430000" y="6583680"/>
            <a:ext cx="761695" cy="274320"/>
          </a:xfrm>
          <a:prstGeom prst="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480A70-1F64-7F6C-D443-6ADE0668ABF2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62DF8C-7019-2541-FB1A-11CC1B88EA6A}"/>
              </a:ext>
            </a:extLst>
          </p:cNvPr>
          <p:cNvSpPr txBox="1"/>
          <p:nvPr/>
        </p:nvSpPr>
        <p:spPr>
          <a:xfrm>
            <a:off x="457200" y="577683"/>
            <a:ext cx="8686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A61C28"/>
                </a:solidFill>
                <a:latin typeface="Georgia"/>
              </a:defRPr>
            </a:pPr>
            <a:r>
              <a:rPr dirty="0" err="1"/>
              <a:t>Ejercicio</a:t>
            </a:r>
            <a:r>
              <a:rPr dirty="0"/>
              <a:t> </a:t>
            </a:r>
            <a:r>
              <a:rPr lang="es-AR" dirty="0"/>
              <a:t>3</a:t>
            </a:r>
            <a:r>
              <a:rPr dirty="0"/>
              <a:t>: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37417FD-64A8-F769-DD17-20A7FDDB2ECE}"/>
              </a:ext>
            </a:extLst>
          </p:cNvPr>
          <p:cNvSpPr/>
          <p:nvPr/>
        </p:nvSpPr>
        <p:spPr>
          <a:xfrm>
            <a:off x="9418320" y="320040"/>
            <a:ext cx="2286000" cy="365760"/>
          </a:xfrm>
          <a:prstGeom prst="round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/>
              <a:t>EJERCICIO </a:t>
            </a:r>
            <a:r>
              <a:rPr lang="es-AR" dirty="0"/>
              <a:t>3</a:t>
            </a:r>
            <a:endParaRPr dirty="0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2CE27016-E5FE-CD57-0DF8-428DB064AFA9}"/>
              </a:ext>
            </a:extLst>
          </p:cNvPr>
          <p:cNvSpPr/>
          <p:nvPr/>
        </p:nvSpPr>
        <p:spPr>
          <a:xfrm>
            <a:off x="1573978" y="1874520"/>
            <a:ext cx="9043738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1C28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t"/>
          <a:lstStyle/>
          <a:p>
            <a:pPr algn="ctr">
              <a:spcAft>
                <a:spcPts val="1000"/>
              </a:spcAft>
              <a:defRPr sz="1400" b="1">
                <a:solidFill>
                  <a:srgbClr val="A61C28"/>
                </a:solidFill>
                <a:latin typeface="Georgia"/>
              </a:defRPr>
            </a:pPr>
            <a:r>
              <a:rPr lang="es-AR" sz="3200" dirty="0"/>
              <a:t>3.0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A61C28"/>
                </a:solidFill>
                <a:latin typeface="Georgia"/>
              </a:defRPr>
            </a:pPr>
            <a:endParaRPr sz="2000" dirty="0"/>
          </a:p>
          <a:p>
            <a:pPr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MX" sz="2000" dirty="0"/>
              <a:t>¿Cuál de todos los métodos implementados en este trabajo se recomienda utilizar</a:t>
            </a:r>
          </a:p>
          <a:p>
            <a:pPr>
              <a:defRPr sz="1050">
                <a:solidFill>
                  <a:srgbClr val="594F4F"/>
                </a:solidFill>
                <a:latin typeface="Arial"/>
              </a:defRPr>
            </a:pPr>
            <a:r>
              <a:rPr lang="es-MX" sz="2000" dirty="0"/>
              <a:t>para predecir si un estudiante aprobará el examen o no? Justificar la respuesta.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4170872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0EFE6-142D-9FA1-FF53-AD38E0A70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CA8FBF-404D-BC17-2E74-639064924803}"/>
              </a:ext>
            </a:extLst>
          </p:cNvPr>
          <p:cNvSpPr/>
          <p:nvPr/>
        </p:nvSpPr>
        <p:spPr>
          <a:xfrm>
            <a:off x="11704320" y="6400800"/>
            <a:ext cx="487375" cy="457200"/>
          </a:xfrm>
          <a:prstGeom prst="rect">
            <a:avLst/>
          </a:prstGeom>
          <a:solidFill>
            <a:srgbClr val="BEB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261368-8FB8-454E-6D93-E10C712CC3BE}"/>
              </a:ext>
            </a:extLst>
          </p:cNvPr>
          <p:cNvSpPr/>
          <p:nvPr/>
        </p:nvSpPr>
        <p:spPr>
          <a:xfrm>
            <a:off x="11430000" y="6583680"/>
            <a:ext cx="761695" cy="274320"/>
          </a:xfrm>
          <a:prstGeom prst="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83CBDF-0FF2-3C29-AE4B-726182D38253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346C5F0-133B-30B3-5E4D-5214DD47A2E3}"/>
              </a:ext>
            </a:extLst>
          </p:cNvPr>
          <p:cNvSpPr/>
          <p:nvPr/>
        </p:nvSpPr>
        <p:spPr>
          <a:xfrm>
            <a:off x="9418320" y="320040"/>
            <a:ext cx="2286000" cy="365760"/>
          </a:xfrm>
          <a:prstGeom prst="round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/>
              <a:t>EJERCICIO</a:t>
            </a:r>
            <a:r>
              <a:rPr lang="es-AR" dirty="0"/>
              <a:t> 3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630D1F-F6D4-7CEA-B61D-BF34494D7A53}"/>
              </a:ext>
            </a:extLst>
          </p:cNvPr>
          <p:cNvSpPr/>
          <p:nvPr/>
        </p:nvSpPr>
        <p:spPr>
          <a:xfrm>
            <a:off x="457200" y="532661"/>
            <a:ext cx="6858000" cy="4539152"/>
          </a:xfrm>
          <a:prstGeom prst="rect">
            <a:avLst/>
          </a:prstGeom>
          <a:solidFill>
            <a:srgbClr val="1E1E1E"/>
          </a:solidFill>
          <a:ln w="127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mejor_svm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>
                <a:latin typeface="Consolas" panose="020B0609020204030204" pitchFamily="49" charset="0"/>
              </a:rPr>
              <a:t>= </a:t>
            </a:r>
            <a:r>
              <a:rPr lang="es-AR" sz="1100" dirty="0" err="1">
                <a:latin typeface="Consolas" panose="020B0609020204030204" pitchFamily="49" charset="0"/>
              </a:rPr>
              <a:t>max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resultados_svm</a:t>
            </a:r>
            <a:r>
              <a:rPr lang="es-AR" sz="1100" dirty="0">
                <a:latin typeface="Consolas" panose="020B0609020204030204" pitchFamily="49" charset="0"/>
              </a:rPr>
              <a:t>, </a:t>
            </a:r>
            <a:r>
              <a:rPr lang="es-AR" sz="1100" i="1" dirty="0" err="1">
                <a:latin typeface="Consolas" panose="020B0609020204030204" pitchFamily="49" charset="0"/>
              </a:rPr>
              <a:t>key</a:t>
            </a:r>
            <a:r>
              <a:rPr lang="es-AR" sz="1100" dirty="0">
                <a:latin typeface="Consolas" panose="020B0609020204030204" pitchFamily="49" charset="0"/>
              </a:rPr>
              <a:t>=lambda </a:t>
            </a:r>
            <a:r>
              <a:rPr lang="es-AR" sz="1100" i="1" dirty="0">
                <a:latin typeface="Consolas" panose="020B0609020204030204" pitchFamily="49" charset="0"/>
              </a:rPr>
              <a:t>r</a:t>
            </a:r>
            <a:r>
              <a:rPr lang="es-AR" sz="1100" dirty="0">
                <a:latin typeface="Consolas" panose="020B0609020204030204" pitchFamily="49" charset="0"/>
              </a:rPr>
              <a:t>: </a:t>
            </a:r>
            <a:r>
              <a:rPr lang="es-AR" sz="1100" i="1" dirty="0">
                <a:latin typeface="Consolas" panose="020B0609020204030204" pitchFamily="49" charset="0"/>
              </a:rPr>
              <a:t>r</a:t>
            </a:r>
            <a:r>
              <a:rPr lang="es-AR" sz="1100" dirty="0">
                <a:latin typeface="Consolas" panose="020B0609020204030204" pitchFamily="49" charset="0"/>
              </a:rPr>
              <a:t>["f1_score"])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s-AR" sz="1100" dirty="0">
                <a:latin typeface="Consolas" panose="020B0609020204030204" pitchFamily="49" charset="0"/>
              </a:rPr>
              <a:t>("\</a:t>
            </a:r>
            <a:r>
              <a:rPr lang="es-AR" sz="1100" dirty="0" err="1">
                <a:latin typeface="Consolas" panose="020B0609020204030204" pitchFamily="49" charset="0"/>
              </a:rPr>
              <a:t>nComparación</a:t>
            </a:r>
            <a:r>
              <a:rPr lang="es-AR" sz="1100" dirty="0">
                <a:latin typeface="Consolas" panose="020B0609020204030204" pitchFamily="49" charset="0"/>
              </a:rPr>
              <a:t> final (conjunto de prueba)")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f"Regresión</a:t>
            </a:r>
            <a:r>
              <a:rPr lang="es-AR" sz="1100" dirty="0">
                <a:latin typeface="Consolas" panose="020B0609020204030204" pitchFamily="49" charset="0"/>
              </a:rPr>
              <a:t> logística -&gt; </a:t>
            </a:r>
            <a:r>
              <a:rPr lang="es-AR" sz="1100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accuracy</a:t>
            </a:r>
            <a:r>
              <a:rPr lang="es-AR" sz="1100" dirty="0">
                <a:latin typeface="Consolas" panose="020B0609020204030204" pitchFamily="49" charset="0"/>
              </a:rPr>
              <a:t>={</a:t>
            </a:r>
            <a:r>
              <a:rPr lang="es-AR" sz="1100" dirty="0" err="1">
                <a:latin typeface="Consolas" panose="020B0609020204030204" pitchFamily="49" charset="0"/>
              </a:rPr>
              <a:t>resultado_log</a:t>
            </a:r>
            <a:r>
              <a:rPr lang="es-AR" sz="1100" dirty="0">
                <a:latin typeface="Consolas" panose="020B0609020204030204" pitchFamily="49" charset="0"/>
              </a:rPr>
              <a:t>['</a:t>
            </a:r>
            <a:r>
              <a:rPr lang="es-AR" sz="1100" dirty="0" err="1">
                <a:latin typeface="Consolas" panose="020B0609020204030204" pitchFamily="49" charset="0"/>
              </a:rPr>
              <a:t>accuracy</a:t>
            </a:r>
            <a:r>
              <a:rPr lang="es-AR" sz="1100" dirty="0">
                <a:latin typeface="Consolas" panose="020B0609020204030204" pitchFamily="49" charset="0"/>
              </a:rPr>
              <a:t>']:.3f}  f1={</a:t>
            </a:r>
            <a:r>
              <a:rPr lang="es-AR" sz="1100" dirty="0" err="1">
                <a:latin typeface="Consolas" panose="020B0609020204030204" pitchFamily="49" charset="0"/>
              </a:rPr>
              <a:t>resultado_log</a:t>
            </a:r>
            <a:r>
              <a:rPr lang="es-AR" sz="1100" dirty="0">
                <a:latin typeface="Consolas" panose="020B0609020204030204" pitchFamily="49" charset="0"/>
              </a:rPr>
              <a:t>['f1_score']:.3f}")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f"Mejor</a:t>
            </a:r>
            <a:r>
              <a:rPr lang="es-AR" sz="1100" dirty="0">
                <a:latin typeface="Consolas" panose="020B0609020204030204" pitchFamily="49" charset="0"/>
              </a:rPr>
              <a:t> SVM (</a:t>
            </a:r>
            <a:r>
              <a:rPr lang="es-AR" sz="1100" dirty="0" err="1">
                <a:latin typeface="Consolas" panose="020B0609020204030204" pitchFamily="49" charset="0"/>
              </a:rPr>
              <a:t>kernel</a:t>
            </a:r>
            <a:r>
              <a:rPr lang="es-AR" sz="1100" dirty="0">
                <a:latin typeface="Consolas" panose="020B0609020204030204" pitchFamily="49" charset="0"/>
              </a:rPr>
              <a:t>={</a:t>
            </a:r>
            <a:r>
              <a:rPr lang="es-AR" sz="1100" dirty="0" err="1">
                <a:latin typeface="Consolas" panose="020B0609020204030204" pitchFamily="49" charset="0"/>
              </a:rPr>
              <a:t>mejor_svm</a:t>
            </a:r>
            <a:r>
              <a:rPr lang="es-AR" sz="1100" dirty="0">
                <a:latin typeface="Consolas" panose="020B0609020204030204" pitchFamily="49" charset="0"/>
              </a:rPr>
              <a:t>['</a:t>
            </a:r>
            <a:r>
              <a:rPr lang="es-AR" sz="1100" dirty="0" err="1">
                <a:latin typeface="Consolas" panose="020B0609020204030204" pitchFamily="49" charset="0"/>
              </a:rPr>
              <a:t>kernel</a:t>
            </a:r>
            <a:r>
              <a:rPr lang="es-AR" sz="1100" dirty="0">
                <a:latin typeface="Consolas" panose="020B0609020204030204" pitchFamily="49" charset="0"/>
              </a:rPr>
              <a:t>']}, C={</a:t>
            </a:r>
            <a:r>
              <a:rPr lang="es-AR" sz="1100" dirty="0" err="1">
                <a:latin typeface="Consolas" panose="020B0609020204030204" pitchFamily="49" charset="0"/>
              </a:rPr>
              <a:t>mejor_svm</a:t>
            </a:r>
            <a:r>
              <a:rPr lang="es-AR" sz="1100" dirty="0">
                <a:latin typeface="Consolas" panose="020B0609020204030204" pitchFamily="49" charset="0"/>
              </a:rPr>
              <a:t>['C']}) -&gt; "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      </a:t>
            </a:r>
            <a:r>
              <a:rPr lang="es-AR" sz="1100" dirty="0" err="1">
                <a:latin typeface="Consolas" panose="020B0609020204030204" pitchFamily="49" charset="0"/>
              </a:rPr>
              <a:t>f"accuracy</a:t>
            </a:r>
            <a:r>
              <a:rPr lang="es-AR" sz="1100" dirty="0">
                <a:latin typeface="Consolas" panose="020B0609020204030204" pitchFamily="49" charset="0"/>
              </a:rPr>
              <a:t>={</a:t>
            </a:r>
            <a:r>
              <a:rPr lang="es-AR" sz="1100" dirty="0" err="1">
                <a:latin typeface="Consolas" panose="020B0609020204030204" pitchFamily="49" charset="0"/>
              </a:rPr>
              <a:t>mejor_svm</a:t>
            </a:r>
            <a:r>
              <a:rPr lang="es-AR" sz="1100" dirty="0">
                <a:latin typeface="Consolas" panose="020B0609020204030204" pitchFamily="49" charset="0"/>
              </a:rPr>
              <a:t>['</a:t>
            </a:r>
            <a:r>
              <a:rPr lang="es-AR" sz="1100" dirty="0" err="1">
                <a:latin typeface="Consolas" panose="020B0609020204030204" pitchFamily="49" charset="0"/>
              </a:rPr>
              <a:t>accuracy</a:t>
            </a:r>
            <a:r>
              <a:rPr lang="es-AR" sz="1100" dirty="0">
                <a:latin typeface="Consolas" panose="020B0609020204030204" pitchFamily="49" charset="0"/>
              </a:rPr>
              <a:t>']:.3f}  f1={</a:t>
            </a:r>
            <a:r>
              <a:rPr lang="es-AR" sz="1100" dirty="0" err="1">
                <a:latin typeface="Consolas" panose="020B0609020204030204" pitchFamily="49" charset="0"/>
              </a:rPr>
              <a:t>mejor_svm</a:t>
            </a:r>
            <a:r>
              <a:rPr lang="es-AR" sz="1100" dirty="0">
                <a:latin typeface="Consolas" panose="020B0609020204030204" pitchFamily="49" charset="0"/>
              </a:rPr>
              <a:t>['f1_score']:.3f}")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if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mejor_svm</a:t>
            </a:r>
            <a:r>
              <a:rPr lang="es-AR" sz="1100" dirty="0">
                <a:latin typeface="Consolas" panose="020B0609020204030204" pitchFamily="49" charset="0"/>
              </a:rPr>
              <a:t>["f1_score"] &gt;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resultado_log</a:t>
            </a:r>
            <a:r>
              <a:rPr lang="es-AR" sz="1100" dirty="0">
                <a:latin typeface="Consolas" panose="020B0609020204030204" pitchFamily="49" charset="0"/>
              </a:rPr>
              <a:t>["f1_score"]: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>
                <a:latin typeface="Consolas" panose="020B0609020204030204" pitchFamily="49" charset="0"/>
              </a:rPr>
              <a:t>   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f"Se</a:t>
            </a:r>
            <a:r>
              <a:rPr lang="es-AR" sz="1100" dirty="0">
                <a:latin typeface="Consolas" panose="020B0609020204030204" pitchFamily="49" charset="0"/>
              </a:rPr>
              <a:t> recomienda el SVM con </a:t>
            </a:r>
            <a:r>
              <a:rPr lang="es-AR" sz="1100" dirty="0" err="1">
                <a:latin typeface="Consolas" panose="020B0609020204030204" pitchFamily="49" charset="0"/>
              </a:rPr>
              <a:t>kernel</a:t>
            </a:r>
            <a:r>
              <a:rPr lang="es-AR" sz="1100" dirty="0">
                <a:latin typeface="Consolas" panose="020B0609020204030204" pitchFamily="49" charset="0"/>
              </a:rPr>
              <a:t>={</a:t>
            </a:r>
            <a:r>
              <a:rPr lang="es-AR" sz="1100" dirty="0" err="1">
                <a:latin typeface="Consolas" panose="020B0609020204030204" pitchFamily="49" charset="0"/>
              </a:rPr>
              <a:t>mejor_svm</a:t>
            </a:r>
            <a:r>
              <a:rPr lang="es-AR" sz="1100" dirty="0">
                <a:latin typeface="Consolas" panose="020B0609020204030204" pitchFamily="49" charset="0"/>
              </a:rPr>
              <a:t>['</a:t>
            </a:r>
            <a:r>
              <a:rPr lang="es-AR" sz="1100" dirty="0" err="1">
                <a:latin typeface="Consolas" panose="020B0609020204030204" pitchFamily="49" charset="0"/>
              </a:rPr>
              <a:t>kernel</a:t>
            </a:r>
            <a:r>
              <a:rPr lang="es-AR" sz="1100" dirty="0">
                <a:latin typeface="Consolas" panose="020B0609020204030204" pitchFamily="49" charset="0"/>
              </a:rPr>
              <a:t>']} y C={</a:t>
            </a:r>
            <a:r>
              <a:rPr lang="es-AR" sz="1100" dirty="0" err="1">
                <a:latin typeface="Consolas" panose="020B0609020204030204" pitchFamily="49" charset="0"/>
              </a:rPr>
              <a:t>mejor_svm</a:t>
            </a:r>
            <a:r>
              <a:rPr lang="es-AR" sz="1100" dirty="0">
                <a:latin typeface="Consolas" panose="020B0609020204030204" pitchFamily="49" charset="0"/>
              </a:rPr>
              <a:t>['C']}, “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          </a:t>
            </a:r>
            <a:r>
              <a:rPr lang="es-AR" sz="1100" dirty="0" err="1">
                <a:latin typeface="Consolas" panose="020B0609020204030204" pitchFamily="49" charset="0"/>
              </a:rPr>
              <a:t>f"porque</a:t>
            </a:r>
            <a:r>
              <a:rPr lang="es-AR" sz="1100" dirty="0">
                <a:latin typeface="Consolas" panose="020B0609020204030204" pitchFamily="49" charset="0"/>
              </a:rPr>
              <a:t> logra mejor F1-score ({</a:t>
            </a:r>
            <a:r>
              <a:rPr lang="es-AR" sz="1100" dirty="0" err="1">
                <a:latin typeface="Consolas" panose="020B0609020204030204" pitchFamily="49" charset="0"/>
              </a:rPr>
              <a:t>mejor_svm</a:t>
            </a:r>
            <a:r>
              <a:rPr lang="es-AR" sz="1100" dirty="0">
                <a:latin typeface="Consolas" panose="020B0609020204030204" pitchFamily="49" charset="0"/>
              </a:rPr>
              <a:t>['f1_score']:.3f} contra {</a:t>
            </a:r>
            <a:r>
              <a:rPr lang="es-AR" sz="1100" dirty="0" err="1">
                <a:latin typeface="Consolas" panose="020B0609020204030204" pitchFamily="49" charset="0"/>
              </a:rPr>
              <a:t>resultado_log</a:t>
            </a:r>
            <a:r>
              <a:rPr lang="es-AR" sz="1100" dirty="0">
                <a:latin typeface="Consolas" panose="020B0609020204030204" pitchFamily="49" charset="0"/>
              </a:rPr>
              <a:t>['f1_score']:.3f} "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          "de la regresión logística) sobre el conjunto de prueba.")</a:t>
            </a:r>
          </a:p>
          <a:p>
            <a:endParaRPr lang="es-AR" sz="1100" dirty="0">
              <a:latin typeface="Consolas" panose="020B0609020204030204" pitchFamily="49" charset="0"/>
            </a:endParaRPr>
          </a:p>
          <a:p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else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:</a:t>
            </a:r>
          </a:p>
          <a:p>
            <a:endParaRPr lang="es-AR" sz="11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r>
              <a:rPr lang="es-AR" sz="1100" dirty="0">
                <a:latin typeface="Consolas" panose="020B0609020204030204" pitchFamily="49" charset="0"/>
              </a:rPr>
              <a:t>   </a:t>
            </a:r>
            <a:r>
              <a:rPr lang="es-AR" sz="11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s-AR" sz="1100" dirty="0" err="1">
                <a:solidFill>
                  <a:srgbClr val="FFFF00"/>
                </a:solidFill>
                <a:latin typeface="Consolas" panose="020B0609020204030204" pitchFamily="49" charset="0"/>
              </a:rPr>
              <a:t>print</a:t>
            </a:r>
            <a:r>
              <a:rPr lang="es-AR" sz="1100" dirty="0">
                <a:latin typeface="Consolas" panose="020B0609020204030204" pitchFamily="49" charset="0"/>
              </a:rPr>
              <a:t>(</a:t>
            </a:r>
            <a:r>
              <a:rPr lang="es-AR" sz="1100" dirty="0" err="1">
                <a:latin typeface="Consolas" panose="020B0609020204030204" pitchFamily="49" charset="0"/>
              </a:rPr>
              <a:t>f"Se</a:t>
            </a:r>
            <a:r>
              <a:rPr lang="es-AR" sz="1100" dirty="0">
                <a:latin typeface="Consolas" panose="020B0609020204030204" pitchFamily="49" charset="0"/>
              </a:rPr>
              <a:t> recomienda la regresión logística, porque logra un F1-score igual o mejor "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          f"({</a:t>
            </a:r>
            <a:r>
              <a:rPr lang="es-AR" sz="1100" dirty="0" err="1">
                <a:latin typeface="Consolas" panose="020B0609020204030204" pitchFamily="49" charset="0"/>
              </a:rPr>
              <a:t>resultado_log</a:t>
            </a:r>
            <a:r>
              <a:rPr lang="es-AR" sz="1100" dirty="0">
                <a:latin typeface="Consolas" panose="020B0609020204030204" pitchFamily="49" charset="0"/>
              </a:rPr>
              <a:t>['f1_score']:.3f} contra {</a:t>
            </a:r>
            <a:r>
              <a:rPr lang="es-AR" sz="1100" dirty="0" err="1">
                <a:latin typeface="Consolas" panose="020B0609020204030204" pitchFamily="49" charset="0"/>
              </a:rPr>
              <a:t>mejor_svm</a:t>
            </a:r>
            <a:r>
              <a:rPr lang="es-AR" sz="1100" dirty="0">
                <a:latin typeface="Consolas" panose="020B0609020204030204" pitchFamily="49" charset="0"/>
              </a:rPr>
              <a:t>['f1_score']:.3f} del mejor SVM) "</a:t>
            </a:r>
          </a:p>
          <a:p>
            <a:r>
              <a:rPr lang="es-AR" sz="1100" dirty="0">
                <a:latin typeface="Consolas" panose="020B0609020204030204" pitchFamily="49" charset="0"/>
              </a:rPr>
              <a:t>          "y además da una probabilidad interpretable de aprobación, algo que el SVM no ofrece directamente.")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ACA2333-0FA4-CBA9-3D87-90E17F56AD50}"/>
              </a:ext>
            </a:extLst>
          </p:cNvPr>
          <p:cNvSpPr/>
          <p:nvPr/>
        </p:nvSpPr>
        <p:spPr>
          <a:xfrm>
            <a:off x="7696047" y="1005840"/>
            <a:ext cx="4114800" cy="21546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B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ctr">
              <a:spcAft>
                <a:spcPts val="800"/>
              </a:spcAft>
              <a:defRPr sz="1200" b="1">
                <a:solidFill>
                  <a:srgbClr val="A61C28"/>
                </a:solidFill>
                <a:latin typeface="Arial"/>
              </a:defRPr>
            </a:pPr>
            <a:r>
              <a:rPr sz="1400" dirty="0"/>
              <a:t>NOTAS TÉCNICAS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dirty="0"/>
              <a:t>• </a:t>
            </a:r>
            <a:r>
              <a:rPr lang="es-MX" sz="1050" dirty="0"/>
              <a:t>Se utiliza el </a:t>
            </a:r>
            <a:r>
              <a:rPr lang="es-MX" sz="1050" b="1" dirty="0"/>
              <a:t>F1-Score</a:t>
            </a:r>
            <a:r>
              <a:rPr lang="es-MX" sz="1050" dirty="0"/>
              <a:t> en el conjunto de prueba como métrica rectora para la decisión, por ser el indicador más robusto para evaluar clasificadores en conjuntos de datos del mundo real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050">
                <a:solidFill>
                  <a:srgbClr val="594F4F"/>
                </a:solidFill>
                <a:latin typeface="Arial"/>
              </a:defRPr>
            </a:pPr>
            <a:r>
              <a:rPr dirty="0"/>
              <a:t>• </a:t>
            </a:r>
            <a:r>
              <a:rPr lang="es-MX" sz="1050" dirty="0"/>
              <a:t>El modelo </a:t>
            </a:r>
            <a:r>
              <a:rPr lang="es-MX" sz="1050" b="1" dirty="0"/>
              <a:t>SVM Lineal (C=10)</a:t>
            </a:r>
            <a:r>
              <a:rPr lang="es-MX" sz="1050" dirty="0"/>
              <a:t> demostró un rendimiento superior en general. Elevó la exactitud global al </a:t>
            </a:r>
            <a:r>
              <a:rPr lang="es-MX" sz="1050" b="1" dirty="0"/>
              <a:t>85%</a:t>
            </a:r>
            <a:r>
              <a:rPr lang="es-MX" sz="1050" dirty="0"/>
              <a:t> y el F1-score a </a:t>
            </a:r>
            <a:r>
              <a:rPr lang="es-MX" sz="1050" b="1" dirty="0"/>
              <a:t>0.706</a:t>
            </a:r>
            <a:r>
              <a:rPr lang="es-MX" sz="1050" dirty="0"/>
              <a:t>, superando el 0.667 de la Regresión Logística</a:t>
            </a:r>
            <a:r>
              <a:rPr dirty="0"/>
              <a:t>.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8F2E481-E846-0FD0-85DC-9E6F1744172B}"/>
              </a:ext>
            </a:extLst>
          </p:cNvPr>
          <p:cNvGrpSpPr/>
          <p:nvPr/>
        </p:nvGrpSpPr>
        <p:grpSpPr>
          <a:xfrm>
            <a:off x="1009094" y="5564590"/>
            <a:ext cx="5326738" cy="1019090"/>
            <a:chOff x="1009095" y="5459033"/>
            <a:chExt cx="5326738" cy="1019090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D2CDAEC8-EF27-C243-8103-A2CAECBBC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1097" y="5459033"/>
              <a:ext cx="4410308" cy="5542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74BEE592-0726-84F9-4756-7CD8E8B91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2053" y="6123392"/>
              <a:ext cx="5323779" cy="184533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404959A4-2B51-6DBA-E7DA-9E1A5B9D0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9095" y="6307925"/>
              <a:ext cx="5326738" cy="17019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16" name="Flecha: hacia abajo 15">
            <a:extLst>
              <a:ext uri="{FF2B5EF4-FFF2-40B4-BE49-F238E27FC236}">
                <a16:creationId xmlns:a16="http://schemas.microsoft.com/office/drawing/2014/main" id="{23740297-0987-BBC3-F45B-EC3B144986D9}"/>
              </a:ext>
            </a:extLst>
          </p:cNvPr>
          <p:cNvSpPr/>
          <p:nvPr/>
        </p:nvSpPr>
        <p:spPr>
          <a:xfrm>
            <a:off x="3604334" y="5149744"/>
            <a:ext cx="372862" cy="322580"/>
          </a:xfrm>
          <a:prstGeom prst="downArrow">
            <a:avLst/>
          </a:prstGeom>
          <a:solidFill>
            <a:srgbClr val="A61C28"/>
          </a:solidFill>
          <a:ln>
            <a:solidFill>
              <a:srgbClr val="A6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4273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5400000">
            <a:off x="11277295" y="0"/>
            <a:ext cx="914400" cy="914400"/>
          </a:xfrm>
          <a:prstGeom prst="rtTriangle">
            <a:avLst/>
          </a:prstGeom>
          <a:solidFill>
            <a:srgbClr val="BEB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" y="6400800"/>
            <a:ext cx="640080" cy="640080"/>
          </a:xfrm>
          <a:prstGeom prst="ellipse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3200400" cy="320040"/>
          </a:xfrm>
          <a:prstGeom prst="round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EJERCICIO 3 • ELECCIÓN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sz="2600" b="1">
                <a:solidFill>
                  <a:srgbClr val="A61C28"/>
                </a:solidFill>
                <a:latin typeface="Georgia"/>
              </a:defRPr>
            </a:pPr>
            <a:r>
              <a:t>Confrontación de Modelos y Elección del Clasificador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94415" cy="31750"/>
          </a:xfrm>
          <a:prstGeom prst="rect">
            <a:avLst/>
          </a:prstGeom>
          <a:solidFill>
            <a:srgbClr val="A6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303520" cy="3935153"/>
          </a:xfrm>
          <a:prstGeom prst="rect">
            <a:avLst/>
          </a:prstGeom>
          <a:solidFill>
            <a:srgbClr val="FFFFFF"/>
          </a:solidFill>
          <a:ln w="19050">
            <a:solidFill>
              <a:srgbClr val="BEBF99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90500" rtlCol="0" anchor="ctr"/>
          <a:lstStyle/>
          <a:p>
            <a:pPr algn="ctr">
              <a:spcAft>
                <a:spcPts val="1200"/>
              </a:spcAft>
              <a:defRPr sz="1300" b="1">
                <a:solidFill>
                  <a:srgbClr val="A61C28"/>
                </a:solidFill>
                <a:latin typeface="Arial"/>
              </a:defRPr>
            </a:pPr>
            <a:r>
              <a:t>COMPARATIVA EN CONJUNTO DE PRUEBA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4937760" cy="1005840"/>
          </a:xfrm>
          <a:prstGeom prst="roundRect">
            <a:avLst/>
          </a:prstGeom>
          <a:solidFill>
            <a:srgbClr val="F2F2F2"/>
          </a:solidFill>
          <a:ln>
            <a:solidFill>
              <a:srgbClr val="BEB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63500" rtlCol="0" anchor="ctr"/>
          <a:lstStyle/>
          <a:p>
            <a:pPr algn="ctr">
              <a:defRPr sz="1100" b="1">
                <a:solidFill>
                  <a:srgbClr val="594F4F"/>
                </a:solidFill>
                <a:latin typeface="Arial"/>
              </a:defRPr>
            </a:pPr>
            <a:r>
              <a:rPr sz="1600" dirty="0"/>
              <a:t>REGRESIÓN LOGÍSTICA</a:t>
            </a:r>
            <a:endParaRPr lang="es-AR" sz="1600" dirty="0"/>
          </a:p>
          <a:p>
            <a:pPr algn="ctr">
              <a:defRPr sz="1100" b="1">
                <a:solidFill>
                  <a:srgbClr val="594F4F"/>
                </a:solidFill>
                <a:latin typeface="Arial"/>
              </a:defRPr>
            </a:pPr>
            <a:r>
              <a:rPr sz="1600" dirty="0"/>
              <a:t> </a:t>
            </a:r>
            <a:endParaRPr lang="es-AR" sz="1600" dirty="0"/>
          </a:p>
          <a:p>
            <a:pPr algn="ctr">
              <a:defRPr sz="1100" b="1">
                <a:solidFill>
                  <a:srgbClr val="594F4F"/>
                </a:solidFill>
                <a:latin typeface="Arial"/>
              </a:defRPr>
            </a:pPr>
            <a:r>
              <a:rPr sz="1600" dirty="0"/>
              <a:t>Accuracy: 83.0%   |   F1-Score: 66.7</a:t>
            </a:r>
            <a:r>
              <a:rPr lang="es-AR" sz="1600" dirty="0"/>
              <a:t>%</a:t>
            </a:r>
            <a:endParaRPr sz="1600" dirty="0"/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4937760" cy="1005840"/>
          </a:xfrm>
          <a:prstGeom prst="roundRect">
            <a:avLst/>
          </a:prstGeom>
          <a:solidFill>
            <a:srgbClr val="F2F2F2"/>
          </a:solidFill>
          <a:ln>
            <a:solidFill>
              <a:srgbClr val="888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63500" rtlCol="0" anchor="ctr"/>
          <a:lstStyle/>
          <a:p>
            <a:pPr algn="ctr">
              <a:defRPr sz="1100" b="1">
                <a:solidFill>
                  <a:srgbClr val="888C69"/>
                </a:solidFill>
                <a:latin typeface="Arial"/>
              </a:defRPr>
            </a:pPr>
            <a:r>
              <a:rPr sz="1600" dirty="0"/>
              <a:t>SVM (KERNEL LINEAL, C=10.0) </a:t>
            </a:r>
            <a:endParaRPr lang="es-AR" sz="1600" dirty="0"/>
          </a:p>
          <a:p>
            <a:pPr algn="ctr">
              <a:defRPr sz="1100" b="1">
                <a:solidFill>
                  <a:srgbClr val="888C69"/>
                </a:solidFill>
                <a:latin typeface="Arial"/>
              </a:defRPr>
            </a:pPr>
            <a:endParaRPr lang="es-AR" sz="1600" dirty="0"/>
          </a:p>
          <a:p>
            <a:pPr algn="ctr">
              <a:defRPr sz="1100" b="1">
                <a:solidFill>
                  <a:srgbClr val="888C69"/>
                </a:solidFill>
                <a:latin typeface="Arial"/>
              </a:defRPr>
            </a:pPr>
            <a:r>
              <a:rPr sz="1600" dirty="0"/>
              <a:t>Accuracy: 85.0%   |   F1-Score: 70.6%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4937760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61C28"/>
                </a:solidFill>
                <a:latin typeface="Arial"/>
              </a:defRPr>
            </a:pPr>
            <a:br>
              <a:rPr dirty="0"/>
            </a:br>
            <a:r>
              <a:rPr dirty="0"/>
              <a:t>El </a:t>
            </a:r>
            <a:r>
              <a:rPr dirty="0" err="1"/>
              <a:t>clasificador</a:t>
            </a:r>
            <a:r>
              <a:rPr dirty="0"/>
              <a:t> SVM lineal </a:t>
            </a:r>
            <a:r>
              <a:rPr dirty="0" err="1"/>
              <a:t>supera</a:t>
            </a:r>
            <a:r>
              <a:rPr dirty="0"/>
              <a:t> a la </a:t>
            </a:r>
            <a:r>
              <a:rPr dirty="0" err="1"/>
              <a:t>regresión</a:t>
            </a:r>
            <a:r>
              <a:rPr dirty="0"/>
              <a:t> </a:t>
            </a:r>
            <a:r>
              <a:rPr dirty="0" err="1"/>
              <a:t>logística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un </a:t>
            </a:r>
            <a:r>
              <a:rPr dirty="0" err="1"/>
              <a:t>incremento</a:t>
            </a:r>
            <a:r>
              <a:rPr dirty="0"/>
              <a:t> de +3.9% de F1-Score y +2.0% de Accuracy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subconjunto</a:t>
            </a:r>
            <a:r>
              <a:rPr dirty="0"/>
              <a:t> de </a:t>
            </a:r>
            <a:r>
              <a:rPr dirty="0" err="1"/>
              <a:t>prueba</a:t>
            </a:r>
            <a:r>
              <a:rPr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5303520" cy="4389120"/>
          </a:xfrm>
          <a:prstGeom prst="rect">
            <a:avLst/>
          </a:prstGeom>
          <a:solidFill>
            <a:srgbClr val="FFFFFF"/>
          </a:solidFill>
          <a:ln w="31750">
            <a:solidFill>
              <a:srgbClr val="A61C28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9050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A61C28"/>
                </a:solidFill>
                <a:latin typeface="Arial"/>
              </a:defRPr>
            </a:pPr>
            <a:r>
              <a:rPr lang="es-MX" u="sng" dirty="0"/>
              <a:t>CONCLUSIÓN</a:t>
            </a:r>
            <a:endParaRPr u="sng" dirty="0"/>
          </a:p>
          <a:p>
            <a:pPr algn="ctr">
              <a:spcAft>
                <a:spcPts val="1000"/>
              </a:spcAft>
              <a:defRPr sz="1600" b="1">
                <a:solidFill>
                  <a:srgbClr val="888C69"/>
                </a:solidFill>
                <a:latin typeface="Georgia"/>
              </a:defRPr>
            </a:pPr>
            <a:r>
              <a:rPr dirty="0"/>
              <a:t>SVM LINEAL (C=10.0)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011680"/>
            <a:ext cx="4937760" cy="914400"/>
          </a:xfrm>
          <a:prstGeom prst="roundRect">
            <a:avLst/>
          </a:prstGeom>
          <a:solidFill>
            <a:srgbClr val="F2F2F2"/>
          </a:solidFill>
          <a:ln>
            <a:solidFill>
              <a:srgbClr val="BEB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rtlCol="0" anchor="ctr"/>
          <a:lstStyle/>
          <a:p>
            <a:pPr algn="ctr">
              <a:defRPr sz="1050" b="1">
                <a:solidFill>
                  <a:srgbClr val="A61C28"/>
                </a:solidFill>
                <a:latin typeface="Arial"/>
              </a:defRPr>
            </a:pPr>
            <a:r>
              <a:rPr dirty="0"/>
              <a:t>1. Máximo </a:t>
            </a:r>
            <a:r>
              <a:rPr dirty="0" err="1"/>
              <a:t>Rendimiento</a:t>
            </a:r>
            <a:endParaRPr dirty="0"/>
          </a:p>
          <a:p>
            <a:pPr>
              <a:defRPr sz="900">
                <a:solidFill>
                  <a:srgbClr val="594F4F"/>
                </a:solidFill>
                <a:latin typeface="Arial"/>
              </a:defRPr>
            </a:pPr>
            <a:r>
              <a:rPr dirty="0"/>
              <a:t>El F1-score es la </a:t>
            </a:r>
            <a:r>
              <a:rPr dirty="0" err="1"/>
              <a:t>métrica</a:t>
            </a:r>
            <a:r>
              <a:rPr dirty="0"/>
              <a:t> </a:t>
            </a:r>
            <a:r>
              <a:rPr lang="es-AR" dirty="0"/>
              <a:t>que se destaca </a:t>
            </a:r>
            <a:r>
              <a:rPr dirty="0"/>
              <a:t>ante la </a:t>
            </a:r>
            <a:r>
              <a:rPr dirty="0" err="1"/>
              <a:t>desproporción</a:t>
            </a:r>
            <a:r>
              <a:rPr dirty="0"/>
              <a:t> de </a:t>
            </a:r>
            <a:r>
              <a:rPr lang="es-AR" dirty="0"/>
              <a:t>la calificación de los alumnos</a:t>
            </a:r>
            <a:r>
              <a:rPr dirty="0"/>
              <a:t>. </a:t>
            </a:r>
            <a:r>
              <a:rPr lang="es-AR" dirty="0"/>
              <a:t>Con u</a:t>
            </a:r>
            <a:r>
              <a:rPr dirty="0"/>
              <a:t>n valor de 70.6% vs 66.7% </a:t>
            </a:r>
            <a:r>
              <a:rPr dirty="0" err="1"/>
              <a:t>fundamenta</a:t>
            </a:r>
            <a:r>
              <a:rPr dirty="0"/>
              <a:t> </a:t>
            </a:r>
            <a:r>
              <a:rPr dirty="0" err="1"/>
              <a:t>técnicamente</a:t>
            </a:r>
            <a:r>
              <a:rPr dirty="0"/>
              <a:t> la </a:t>
            </a:r>
            <a:r>
              <a:rPr dirty="0" err="1"/>
              <a:t>elección</a:t>
            </a:r>
            <a:r>
              <a:rPr dirty="0"/>
              <a:t> de SVM </a:t>
            </a:r>
            <a:r>
              <a:rPr dirty="0" err="1"/>
              <a:t>sobre</a:t>
            </a:r>
            <a:r>
              <a:rPr dirty="0"/>
              <a:t> la </a:t>
            </a:r>
            <a:r>
              <a:rPr dirty="0" err="1"/>
              <a:t>logística</a:t>
            </a:r>
            <a:r>
              <a:rPr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666673"/>
            <a:ext cx="4937760" cy="914400"/>
          </a:xfrm>
          <a:prstGeom prst="roundRect">
            <a:avLst/>
          </a:prstGeom>
          <a:solidFill>
            <a:srgbClr val="F2F2F2"/>
          </a:solidFill>
          <a:ln>
            <a:solidFill>
              <a:srgbClr val="BEB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50800" rIns="127000" rtlCol="0" anchor="ctr"/>
          <a:lstStyle/>
          <a:p>
            <a:pPr algn="ctr">
              <a:defRPr sz="1050" b="1">
                <a:solidFill>
                  <a:srgbClr val="A61C28"/>
                </a:solidFill>
                <a:latin typeface="Arial"/>
              </a:defRPr>
            </a:pPr>
            <a:r>
              <a:rPr lang="es-AR" dirty="0"/>
              <a:t>2</a:t>
            </a:r>
            <a:r>
              <a:rPr dirty="0"/>
              <a:t>. </a:t>
            </a:r>
            <a:r>
              <a:rPr dirty="0" err="1"/>
              <a:t>Criterio</a:t>
            </a:r>
            <a:r>
              <a:rPr dirty="0"/>
              <a:t> de Rigor </a:t>
            </a:r>
            <a:r>
              <a:rPr dirty="0" err="1"/>
              <a:t>Científico</a:t>
            </a:r>
            <a:endParaRPr dirty="0"/>
          </a:p>
          <a:p>
            <a:pPr>
              <a:defRPr sz="900">
                <a:solidFill>
                  <a:srgbClr val="594F4F"/>
                </a:solidFill>
                <a:latin typeface="Arial"/>
              </a:defRPr>
            </a:pPr>
            <a:r>
              <a:rPr dirty="0"/>
              <a:t>El </a:t>
            </a:r>
            <a:r>
              <a:rPr dirty="0" err="1"/>
              <a:t>diferencial</a:t>
            </a:r>
            <a:r>
              <a:rPr dirty="0"/>
              <a:t> </a:t>
            </a:r>
            <a:r>
              <a:rPr dirty="0" err="1"/>
              <a:t>positivo</a:t>
            </a:r>
            <a:r>
              <a:rPr dirty="0"/>
              <a:t> (3.9% F1-Score)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validación</a:t>
            </a:r>
            <a:r>
              <a:rPr dirty="0"/>
              <a:t> </a:t>
            </a:r>
            <a:r>
              <a:rPr dirty="0" err="1"/>
              <a:t>justifica</a:t>
            </a:r>
            <a:r>
              <a:rPr dirty="0"/>
              <a:t> </a:t>
            </a:r>
            <a:r>
              <a:rPr dirty="0" err="1"/>
              <a:t>plenamente</a:t>
            </a:r>
            <a:r>
              <a:rPr dirty="0"/>
              <a:t> la </a:t>
            </a:r>
            <a:r>
              <a:rPr dirty="0" err="1"/>
              <a:t>transición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la </a:t>
            </a:r>
            <a:r>
              <a:rPr dirty="0" err="1"/>
              <a:t>máquina</a:t>
            </a:r>
            <a:r>
              <a:rPr dirty="0"/>
              <a:t> de </a:t>
            </a:r>
            <a:r>
              <a:rPr dirty="0" err="1"/>
              <a:t>soporte</a:t>
            </a:r>
            <a:r>
              <a:rPr dirty="0"/>
              <a:t> vectorial para </a:t>
            </a:r>
            <a:r>
              <a:rPr dirty="0" err="1"/>
              <a:t>potenciar</a:t>
            </a:r>
            <a:r>
              <a:rPr dirty="0"/>
              <a:t> la </a:t>
            </a:r>
            <a:r>
              <a:rPr dirty="0" err="1"/>
              <a:t>precisión</a:t>
            </a:r>
            <a:r>
              <a:rPr dirty="0"/>
              <a:t> de las </a:t>
            </a:r>
            <a:r>
              <a:rPr dirty="0" err="1"/>
              <a:t>clasificaciones</a:t>
            </a:r>
            <a:r>
              <a:rPr dirty="0"/>
              <a:t> </a:t>
            </a:r>
            <a:r>
              <a:rPr dirty="0" err="1"/>
              <a:t>estudiantiles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 rot="5400000">
            <a:off x="11277295" y="0"/>
            <a:ext cx="914400" cy="914400"/>
          </a:xfrm>
          <a:prstGeom prst="rtTriangle">
            <a:avLst/>
          </a:prstGeom>
          <a:solidFill>
            <a:srgbClr val="BEB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" y="6400800"/>
            <a:ext cx="640080" cy="640080"/>
          </a:xfrm>
          <a:prstGeom prst="ellipse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3200400" cy="320040"/>
          </a:xfrm>
          <a:prstGeom prst="roundRect">
            <a:avLst/>
          </a:prstGeom>
          <a:solidFill>
            <a:srgbClr val="8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rPr lang="es-AR" dirty="0"/>
              <a:t>CONCLUSIONES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94415" cy="31750"/>
          </a:xfrm>
          <a:prstGeom prst="rect">
            <a:avLst/>
          </a:prstGeom>
          <a:solidFill>
            <a:srgbClr val="A6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8C69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rtlCol="0" anchor="ctr"/>
          <a:lstStyle/>
          <a:p>
            <a:pPr algn="ctr">
              <a:spcAft>
                <a:spcPts val="200"/>
              </a:spcAft>
              <a:defRPr sz="1200" b="1">
                <a:solidFill>
                  <a:srgbClr val="A61C28"/>
                </a:solidFill>
                <a:latin typeface="Arial"/>
              </a:defRPr>
            </a:pPr>
            <a:r>
              <a:rPr dirty="0"/>
              <a:t>CALIDAD DE DATOS Y </a:t>
            </a:r>
            <a:r>
              <a:rPr lang="es-AR" dirty="0"/>
              <a:t>LIMPIEZA</a:t>
            </a:r>
            <a:endParaRPr dirty="0"/>
          </a:p>
          <a:p>
            <a:pPr>
              <a:defRPr sz="1000">
                <a:solidFill>
                  <a:srgbClr val="594F4F"/>
                </a:solidFill>
                <a:latin typeface="Arial"/>
              </a:defRPr>
            </a:pPr>
            <a:endParaRPr lang="es-AR" dirty="0"/>
          </a:p>
          <a:p>
            <a:pPr>
              <a:defRPr sz="1000">
                <a:solidFill>
                  <a:srgbClr val="594F4F"/>
                </a:solidFill>
                <a:latin typeface="Arial"/>
              </a:defRPr>
            </a:pPr>
            <a:r>
              <a:rPr dirty="0"/>
              <a:t>• </a:t>
            </a:r>
            <a:r>
              <a:rPr lang="es-AR" dirty="0"/>
              <a:t>L</a:t>
            </a:r>
            <a:r>
              <a:rPr dirty="0"/>
              <a:t>a </a:t>
            </a:r>
            <a:r>
              <a:rPr dirty="0" err="1"/>
              <a:t>eliminación</a:t>
            </a:r>
            <a:r>
              <a:rPr dirty="0"/>
              <a:t> de 208 </a:t>
            </a:r>
            <a:r>
              <a:rPr dirty="0" err="1"/>
              <a:t>filas</a:t>
            </a:r>
            <a:r>
              <a:rPr dirty="0"/>
              <a:t> de </a:t>
            </a:r>
            <a:r>
              <a:rPr dirty="0" err="1"/>
              <a:t>registros</a:t>
            </a:r>
            <a:r>
              <a:rPr dirty="0"/>
              <a:t> </a:t>
            </a:r>
            <a:r>
              <a:rPr dirty="0" err="1"/>
              <a:t>duplicados</a:t>
            </a:r>
            <a:r>
              <a:rPr dirty="0"/>
              <a:t> </a:t>
            </a:r>
            <a:r>
              <a:rPr dirty="0" err="1"/>
              <a:t>previno</a:t>
            </a:r>
            <a:r>
              <a:rPr dirty="0"/>
              <a:t> un </a:t>
            </a:r>
            <a:r>
              <a:rPr dirty="0" err="1"/>
              <a:t>sesgo</a:t>
            </a:r>
            <a:r>
              <a:rPr dirty="0"/>
              <a:t> de </a:t>
            </a:r>
            <a:r>
              <a:rPr dirty="0" err="1"/>
              <a:t>entrenamiento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Entrenar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con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duplicados</a:t>
            </a:r>
            <a:r>
              <a:rPr dirty="0"/>
              <a:t> </a:t>
            </a:r>
            <a:r>
              <a:rPr dirty="0" err="1"/>
              <a:t>distorsiona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coeficiente</a:t>
            </a:r>
            <a:r>
              <a:rPr dirty="0"/>
              <a:t> R^2 y las </a:t>
            </a:r>
            <a:r>
              <a:rPr dirty="0" err="1"/>
              <a:t>métricas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test</a:t>
            </a:r>
            <a:r>
              <a:rPr lang="es-AR" dirty="0"/>
              <a:t>.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8C69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rtlCol="0" anchor="ctr"/>
          <a:lstStyle/>
          <a:p>
            <a:pPr algn="ctr">
              <a:spcAft>
                <a:spcPts val="200"/>
              </a:spcAft>
              <a:defRPr sz="1200" b="1">
                <a:solidFill>
                  <a:srgbClr val="A61C28"/>
                </a:solidFill>
                <a:latin typeface="Arial"/>
              </a:defRPr>
            </a:pPr>
            <a:r>
              <a:rPr dirty="0"/>
              <a:t>MÉTRICAS CLAVE</a:t>
            </a:r>
            <a:r>
              <a:rPr lang="es-AR" dirty="0"/>
              <a:t>S</a:t>
            </a:r>
            <a:endParaRPr dirty="0"/>
          </a:p>
          <a:p>
            <a:pPr>
              <a:defRPr sz="1000">
                <a:solidFill>
                  <a:srgbClr val="594F4F"/>
                </a:solidFill>
                <a:latin typeface="Arial"/>
              </a:defRPr>
            </a:pPr>
            <a:r>
              <a:rPr dirty="0"/>
              <a:t>• </a:t>
            </a:r>
            <a:r>
              <a:rPr lang="es-AR" dirty="0"/>
              <a:t>C</a:t>
            </a:r>
            <a:r>
              <a:rPr dirty="0"/>
              <a:t>on </a:t>
            </a:r>
            <a:r>
              <a:rPr lang="es-AR" dirty="0"/>
              <a:t>e</a:t>
            </a:r>
            <a:r>
              <a:rPr dirty="0"/>
              <a:t>l </a:t>
            </a:r>
            <a:r>
              <a:rPr dirty="0" err="1"/>
              <a:t>desbalance</a:t>
            </a:r>
            <a:r>
              <a:rPr dirty="0"/>
              <a:t> de </a:t>
            </a:r>
            <a:r>
              <a:rPr dirty="0" err="1"/>
              <a:t>clases</a:t>
            </a:r>
            <a:r>
              <a:rPr dirty="0"/>
              <a:t>, </a:t>
            </a:r>
            <a:r>
              <a:rPr dirty="0" err="1"/>
              <a:t>el</a:t>
            </a:r>
            <a:r>
              <a:rPr dirty="0"/>
              <a:t> Accuracy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métrica</a:t>
            </a:r>
            <a:r>
              <a:rPr dirty="0"/>
              <a:t> </a:t>
            </a:r>
            <a:r>
              <a:rPr dirty="0" err="1"/>
              <a:t>engañosa</a:t>
            </a:r>
            <a:r>
              <a:rPr lang="es-AR" dirty="0"/>
              <a:t> a comparación de las demás </a:t>
            </a:r>
            <a:r>
              <a:rPr lang="es-AR" dirty="0" err="1"/>
              <a:t>metricas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• El F1-score es </a:t>
            </a:r>
            <a:r>
              <a:rPr dirty="0" err="1"/>
              <a:t>el</a:t>
            </a:r>
            <a:r>
              <a:rPr dirty="0"/>
              <a:t> </a:t>
            </a:r>
            <a:r>
              <a:rPr lang="es-AR" dirty="0"/>
              <a:t>mejor </a:t>
            </a:r>
            <a:r>
              <a:rPr dirty="0" err="1"/>
              <a:t>indicador</a:t>
            </a:r>
            <a:r>
              <a:rPr dirty="0"/>
              <a:t>, </a:t>
            </a:r>
            <a:r>
              <a:rPr dirty="0" err="1"/>
              <a:t>ponderando</a:t>
            </a:r>
            <a:r>
              <a:rPr dirty="0"/>
              <a:t> </a:t>
            </a:r>
            <a:r>
              <a:rPr dirty="0" err="1"/>
              <a:t>equilibradamente</a:t>
            </a:r>
            <a:r>
              <a:rPr dirty="0"/>
              <a:t> la </a:t>
            </a:r>
            <a:r>
              <a:rPr dirty="0" err="1"/>
              <a:t>Precisión</a:t>
            </a:r>
            <a:r>
              <a:rPr dirty="0"/>
              <a:t> (</a:t>
            </a: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falsos</a:t>
            </a:r>
            <a:r>
              <a:rPr dirty="0"/>
              <a:t> </a:t>
            </a:r>
            <a:r>
              <a:rPr dirty="0" err="1"/>
              <a:t>positivos</a:t>
            </a:r>
            <a:r>
              <a:rPr dirty="0"/>
              <a:t>) y la </a:t>
            </a:r>
            <a:r>
              <a:rPr dirty="0" err="1"/>
              <a:t>minimizar</a:t>
            </a:r>
            <a:r>
              <a:rPr dirty="0"/>
              <a:t> </a:t>
            </a:r>
            <a:r>
              <a:rPr dirty="0" err="1"/>
              <a:t>falsos</a:t>
            </a:r>
            <a:r>
              <a:rPr dirty="0"/>
              <a:t> </a:t>
            </a:r>
            <a:r>
              <a:rPr dirty="0" err="1"/>
              <a:t>desaprobados</a:t>
            </a:r>
            <a:r>
              <a:rPr lang="es-AR" dirty="0"/>
              <a:t>.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4747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8C69"/>
            </a:solidFill>
          </a:ln>
          <a:effectLst>
            <a:outerShdw blurRad="30000" dist="15000" dir="540000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52400" rIns="152400" rtlCol="0" anchor="ctr"/>
          <a:lstStyle/>
          <a:p>
            <a:pPr algn="ctr">
              <a:spcAft>
                <a:spcPts val="200"/>
              </a:spcAft>
              <a:defRPr sz="1200" b="1">
                <a:solidFill>
                  <a:srgbClr val="A61C28"/>
                </a:solidFill>
                <a:latin typeface="Arial"/>
              </a:defRPr>
            </a:pPr>
            <a:r>
              <a:rPr lang="es-AR" dirty="0"/>
              <a:t>ALGORITMO</a:t>
            </a:r>
            <a:endParaRPr dirty="0"/>
          </a:p>
          <a:p>
            <a:pPr>
              <a:defRPr sz="1000">
                <a:solidFill>
                  <a:srgbClr val="594F4F"/>
                </a:solidFill>
                <a:latin typeface="Arial"/>
              </a:defRPr>
            </a:pPr>
            <a:r>
              <a:rPr dirty="0"/>
              <a:t>• La </a:t>
            </a:r>
            <a:r>
              <a:rPr dirty="0" err="1"/>
              <a:t>elección</a:t>
            </a:r>
            <a:r>
              <a:rPr dirty="0"/>
              <a:t> del </a:t>
            </a:r>
            <a:r>
              <a:rPr dirty="0" err="1"/>
              <a:t>algoritmo</a:t>
            </a:r>
            <a:r>
              <a:rPr dirty="0"/>
              <a:t> final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guiarse</a:t>
            </a:r>
            <a:r>
              <a:rPr dirty="0"/>
              <a:t> </a:t>
            </a:r>
            <a:r>
              <a:rPr dirty="0" err="1"/>
              <a:t>estrictamente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rendimiento</a:t>
            </a:r>
            <a:r>
              <a:rPr dirty="0"/>
              <a:t> </a:t>
            </a:r>
            <a:r>
              <a:rPr dirty="0" err="1"/>
              <a:t>validado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lang="es-AR" dirty="0"/>
              <a:t>EL </a:t>
            </a:r>
            <a:r>
              <a:rPr dirty="0"/>
              <a:t>test ante</a:t>
            </a:r>
            <a:r>
              <a:rPr lang="es-AR" dirty="0"/>
              <a:t> lo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no </a:t>
            </a:r>
            <a:r>
              <a:rPr dirty="0" err="1"/>
              <a:t>observados</a:t>
            </a:r>
            <a:r>
              <a:rPr dirty="0"/>
              <a:t> .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lang="es-AR" dirty="0"/>
              <a:t>El </a:t>
            </a:r>
            <a:r>
              <a:rPr dirty="0"/>
              <a:t>S</a:t>
            </a:r>
            <a:r>
              <a:rPr lang="es-AR" dirty="0"/>
              <a:t>VM</a:t>
            </a:r>
            <a:r>
              <a:rPr dirty="0"/>
              <a:t> lineal con C=10 </a:t>
            </a:r>
            <a:r>
              <a:rPr lang="es-AR" dirty="0"/>
              <a:t>fue el que mejor</a:t>
            </a:r>
            <a:r>
              <a:rPr dirty="0"/>
              <a:t> </a:t>
            </a:r>
            <a:r>
              <a:rPr dirty="0" err="1"/>
              <a:t>rendimiento</a:t>
            </a:r>
            <a:r>
              <a:rPr dirty="0"/>
              <a:t> </a:t>
            </a:r>
            <a:r>
              <a:rPr lang="es-AR" dirty="0"/>
              <a:t>tuvo</a:t>
            </a:r>
            <a:r>
              <a:rPr dirty="0"/>
              <a:t> (3.9% de F1-Score</a:t>
            </a:r>
            <a:r>
              <a:rPr lang="es-AR" dirty="0"/>
              <a:t>)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4078</Words>
  <Application>Microsoft Office PowerPoint</Application>
  <PresentationFormat>Panorámica</PresentationFormat>
  <Paragraphs>395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Arial</vt:lpstr>
      <vt:lpstr>Arial Rounded MT Bold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Lautaro Suárez</cp:lastModifiedBy>
  <cp:revision>65</cp:revision>
  <dcterms:created xsi:type="dcterms:W3CDTF">2013-01-27T09:14:16Z</dcterms:created>
  <dcterms:modified xsi:type="dcterms:W3CDTF">2026-07-08T19:14:00Z</dcterms:modified>
  <cp:category/>
</cp:coreProperties>
</file>